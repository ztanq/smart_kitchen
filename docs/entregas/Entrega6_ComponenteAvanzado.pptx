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6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E5039"/>
          </a:solidFill>
          <a:ln w="12700">
            <a:solidFill>
              <a:srgbClr val="2E50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2011680" cy="292608"/>
          </a:xfrm>
          <a:prstGeom prst="rect">
            <a:avLst/>
          </a:prstGeom>
          <a:solidFill>
            <a:srgbClr val="A8C9B0">
              <a:alpha val="80000"/>
            </a:srgbClr>
          </a:solidFill>
          <a:ln w="12700">
            <a:solidFill>
              <a:srgbClr val="A8C9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A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Avanzado: PCA + t-SNE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2286000" cy="36576"/>
          </a:xfrm>
          <a:prstGeom prst="rect">
            <a:avLst/>
          </a:prstGeom>
          <a:solidFill>
            <a:srgbClr val="A8C9B0"/>
          </a:solidFill>
          <a:ln w="12700">
            <a:solidFill>
              <a:srgbClr val="A8C9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5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 — Smart Kitchen Intelligence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245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12  ·  Dashboard Beta  ·  Junio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4224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Alonso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Entrega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analítica y dataset SKI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384048" cy="384048"/>
          </a:xfrm>
          <a:prstGeom prst="ellipse">
            <a:avLst/>
          </a:prstGeom>
          <a:solidFill>
            <a:srgbClr val="A8C9B0"/>
          </a:solidFill>
          <a:ln w="12700">
            <a:solidFill>
              <a:srgbClr val="A8C9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947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Features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2219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variables: numérico, texto, temporal, categórico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06624"/>
            <a:ext cx="384048" cy="384048"/>
          </a:xfrm>
          <a:prstGeom prst="ellipse">
            <a:avLst/>
          </a:prstGeom>
          <a:solidFill>
            <a:srgbClr val="A8C9B0"/>
          </a:solidFill>
          <a:ln w="12700">
            <a:solidFill>
              <a:srgbClr val="A8C9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6609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PCA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9352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Metodología, scree plot y resultados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19856"/>
            <a:ext cx="384048" cy="384048"/>
          </a:xfrm>
          <a:prstGeom prst="ellipse">
            <a:avLst/>
          </a:prstGeom>
          <a:solidFill>
            <a:srgbClr val="A8C9B0"/>
          </a:solidFill>
          <a:ln w="12700">
            <a:solidFill>
              <a:srgbClr val="A8C9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374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PCA 2D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6484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latente de movimientos IN/OUT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280160"/>
            <a:ext cx="384048" cy="384048"/>
          </a:xfrm>
          <a:prstGeom prst="ellipse">
            <a:avLst/>
          </a:prstGeom>
          <a:solidFill>
            <a:srgbClr val="A8C9B0"/>
          </a:solidFill>
          <a:ln w="12700">
            <a:solidFill>
              <a:srgbClr val="A8C9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t-SNE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1508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Agrupamiento no lineal por categoría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993392"/>
            <a:ext cx="384048" cy="384048"/>
          </a:xfrm>
          <a:prstGeom prst="ellipse">
            <a:avLst/>
          </a:prstGeom>
          <a:solidFill>
            <a:srgbClr val="A8C9B0"/>
          </a:solidFill>
          <a:ln w="12700">
            <a:solidFill>
              <a:srgbClr val="A8C9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1947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al 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22219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vistas avanzadas en Tableau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706624"/>
            <a:ext cx="384048" cy="384048"/>
          </a:xfrm>
          <a:prstGeom prst="ellipse">
            <a:avLst/>
          </a:prstGeom>
          <a:solidFill>
            <a:srgbClr val="A8C9B0"/>
          </a:solidFill>
          <a:ln w="12700">
            <a:solidFill>
              <a:srgbClr val="A8C9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2660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Conclusiones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12080" y="29352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Alcance, decisiones y valor analítico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80560" y="1097280"/>
            <a:ext cx="18288" cy="3291840"/>
          </a:xfrm>
          <a:prstGeom prst="rect">
            <a:avLst/>
          </a:prstGeom>
          <a:solidFill>
            <a:srgbClr val="A8C9B0"/>
          </a:solidFill>
          <a:ln w="12700">
            <a:solidFill>
              <a:srgbClr val="A8C9B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ANALÍTICA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patrones de comportamiento alimentario emergen del inventario del hogar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cómo se puede predecir el riesgo de desperdicio de alimentos?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874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258568"/>
            <a:ext cx="165506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25,819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2772461"/>
            <a:ext cx="1655064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en el dataset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2148840"/>
            <a:ext cx="1874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2258568"/>
            <a:ext cx="165506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51760" y="2772461"/>
            <a:ext cx="1655064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originales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2148840"/>
            <a:ext cx="1874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36592" y="2258568"/>
            <a:ext cx="165506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36592" y="2772461"/>
            <a:ext cx="1655064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construidas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11696" y="2148840"/>
            <a:ext cx="1874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21424" y="2258568"/>
            <a:ext cx="165506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21424" y="2772461"/>
            <a:ext cx="1655064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de alimento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3337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OBJETIVO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393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hogar que quiere reducir el desperdicio y optimizar compras mediante un dashboard inteligente de inventario.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337560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3337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6393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sintético de hogar con eventos de entrada/salida (action_type), nutriscore, calorías, fechas y localización por despensa.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CARACTERÍSTICAS — 61 DIMENSIONES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920240" cy="201168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2646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1762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calories_100g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4323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proteins_100g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6883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carbs_100g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por media de categoría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06040" y="118872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188720"/>
            <a:ext cx="1920240" cy="201168"/>
          </a:xfrm>
          <a:prstGeom prst="rect">
            <a:avLst/>
          </a:prstGeom>
          <a:solidFill>
            <a:srgbClr val="5A8F68"/>
          </a:solidFill>
          <a:ln w="12700">
            <a:solidFill>
              <a:srgbClr val="5A8F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42646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8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9748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1762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category_name (one-hot)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0" y="24323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valores únicos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0" y="26883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 columnas binarias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9748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vía Polars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188720"/>
            <a:ext cx="1920240" cy="201168"/>
          </a:xfrm>
          <a:prstGeom prst="rect">
            <a:avLst/>
          </a:prstGeom>
          <a:solidFill>
            <a:srgbClr val="7A9E7E"/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42646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84632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(TF-IDF)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21762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product_name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24323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tokens más frecuentes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26883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TfidfVectorizer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stop_words='english', max_features=50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03720" y="118872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03720" y="1188720"/>
            <a:ext cx="1920240" cy="201168"/>
          </a:xfrm>
          <a:prstGeom prst="rect">
            <a:avLst/>
          </a:prstGeom>
          <a:solidFill>
            <a:srgbClr val="A8C9B0"/>
          </a:solidFill>
          <a:ln w="12700">
            <a:solidFill>
              <a:srgbClr val="A8C9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142646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99516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21762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hour_of_day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040880" y="24323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9516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Extraídas de timestamp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58768" y="2542032"/>
            <a:ext cx="1097280" cy="54864"/>
          </a:xfrm>
          <a:prstGeom prst="rect">
            <a:avLst/>
          </a:prstGeom>
          <a:solidFill>
            <a:srgbClr val="A8C9B0"/>
          </a:solidFill>
          <a:ln w="12700">
            <a:solidFill>
              <a:srgbClr val="A8C9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13632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3291840" y="4160520"/>
            <a:ext cx="2560320" cy="548640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final: 25,819 × 61  →  StandardScaler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PCA — Metodología y Resultados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LINEAL DE DIMENSIONALIDAD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207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PCA?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9961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de Componentes Principales transforma las 61 variables originales en nuevos ejes (componentes) que capturan la máxima varianza posible en orden decreciente.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331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3840480" cy="274320"/>
          </a:xfrm>
          <a:prstGeom prst="rect">
            <a:avLst/>
          </a:prstGeom>
          <a:solidFill>
            <a:srgbClr val="E8F2EB"/>
          </a:solidFill>
          <a:ln w="6350">
            <a:solidFill>
              <a:srgbClr val="A8C9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23160" y="2606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completo (sklearn)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840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2316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(reproducible)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3840480" cy="274320"/>
          </a:xfrm>
          <a:prstGeom prst="rect">
            <a:avLst/>
          </a:prstGeom>
          <a:solidFill>
            <a:srgbClr val="E8F2EB"/>
          </a:solidFill>
          <a:ln w="6350">
            <a:solidFill>
              <a:srgbClr val="A8C9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retención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23160" y="3246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varianza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38404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para 90%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2316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de 61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3840480" cy="274320"/>
          </a:xfrm>
          <a:prstGeom prst="rect">
            <a:avLst/>
          </a:prstGeom>
          <a:solidFill>
            <a:srgbClr val="E8F2EB"/>
          </a:solidFill>
          <a:ln w="6350">
            <a:solidFill>
              <a:srgbClr val="A8C9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lograda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23160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menos dimensiones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1207008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1207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EXPLICADA POR COMPONENTE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99616"/>
          <a:ext cx="4114800" cy="210312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463040"/>
              </a:tblGrid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Individual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Acumulada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PC4–PC10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~4% c/u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F6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PC1–PC29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F6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F6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90.0%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8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4572000" y="3749040"/>
            <a:ext cx="4114800" cy="749808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3440" y="374904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componentes retienen el 90% de información de 61 variables originales — reducción del 52% manteniendo poder explicativo.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 — Varianza Acumulada vs Componentes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COMPLETO: 61 COMPONENTES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59436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097280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11696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0" y="1444752"/>
            <a:ext cx="2103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0" y="14630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90%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75120" y="17007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roja horizontal → fija el criterio de retención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583680" y="2157984"/>
            <a:ext cx="2103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75120" y="21762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29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75120" y="24140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roja vertical → donde la curva cruza el umbral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0" y="2871216"/>
            <a:ext cx="2103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675120" y="28895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azul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675120" y="3127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acumulada — sube rápido al inicio (alta concentración)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83680" y="3584448"/>
            <a:ext cx="2103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675120" y="36027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75120" y="38404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aplana después de PC10, confirmando estructura dispersa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PCA 2D — Estructura Latente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 IN vs OUT EN ESPACIO REDUCIDO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59436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097280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11696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0" y="1389888"/>
            <a:ext cx="2103120" cy="749808"/>
          </a:xfrm>
          <a:prstGeom prst="rect">
            <a:avLst/>
          </a:prstGeom>
          <a:solidFill>
            <a:srgbClr val="E8F2EB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0" y="14081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parcial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75120" y="16459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eventos IN y OUT forman nubes superpuestas, indicando que la varianza no está dominada por el tipo de movimiento.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0" y="2231136"/>
            <a:ext cx="2103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75120" y="22494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(8.0%)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75120" y="24871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variaciones en el perfil nutricional: productos altos en calorías vs. frescos.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583680" y="3072384"/>
            <a:ext cx="2103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675120" y="30906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(6.8%)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675120" y="33284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el patrón temporal del movimiento: horario del evento y día de la semana.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583680" y="3913632"/>
            <a:ext cx="2103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675120" y="39319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 alta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75120" y="41696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superposición sugiere que IN/OUT comparte estructura nutricional similar — ambos operan sobre el mismo catálogo.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— Metodología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NO LINEAL: ESTRUCTURA LOCAL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207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t-SNE?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99616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t-distributed Stochastic Neighbor Embedding modela relaciones de proximidad local entre puntos en alta dimensión, proyectándolas en 2D. A diferencia de PCA, preserva agrupamientos locales aunque sacrifica la interpretación global.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33472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633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vs t-SNE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3931920" cy="18288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46304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F6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lineal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Varianza 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F6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 local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(cargas)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F6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directamente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Escalabilidad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O(n·p²)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F6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 → muestreamos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en SKI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Compresión 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F6B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Visualizar clusters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9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E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663440" y="1207008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91456" y="12070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UTILIZADOS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1499616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1499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(n)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46520" y="14996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registros aleatorios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1901952"/>
            <a:ext cx="4023360" cy="347472"/>
          </a:xfrm>
          <a:prstGeom prst="rect">
            <a:avLst/>
          </a:prstGeom>
          <a:solidFill>
            <a:srgbClr val="E8F2EB"/>
          </a:solidFill>
          <a:ln w="6350">
            <a:solidFill>
              <a:srgbClr val="A8C9B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19019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46520" y="19019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(balance local/global)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2304288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23042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Pre-PCA dims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46520" y="23042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(denoising previo)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663440" y="2706624"/>
            <a:ext cx="4023360" cy="347472"/>
          </a:xfrm>
          <a:prstGeom prst="rect">
            <a:avLst/>
          </a:prstGeom>
          <a:solidFill>
            <a:srgbClr val="E8F2EB"/>
          </a:solidFill>
          <a:ln w="6350">
            <a:solidFill>
              <a:srgbClr val="A8C9B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27066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Inicialización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446520" y="27066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(más estable)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663440" y="3108960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0" y="3108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46520" y="31089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(sklearn default)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663440" y="3511296"/>
            <a:ext cx="4023360" cy="347472"/>
          </a:xfrm>
          <a:prstGeom prst="rect">
            <a:avLst/>
          </a:prstGeom>
          <a:solidFill>
            <a:srgbClr val="E8F2EB"/>
          </a:solidFill>
          <a:ln w="6350">
            <a:solidFill>
              <a:srgbClr val="A8C9B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35112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446520" y="3511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(reproducible)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663440" y="3913632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A8C9B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54880" y="39136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46520" y="39136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sobre muestra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663440" y="4343400"/>
            <a:ext cx="4023360" cy="457200"/>
          </a:xfrm>
          <a:prstGeom prst="rect">
            <a:avLst/>
          </a:prstGeom>
          <a:solidFill>
            <a:srgbClr val="E8F2EB"/>
          </a:solidFill>
          <a:ln w="12700">
            <a:solidFill>
              <a:srgbClr val="A8C9B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54880" y="4343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recomendada: pre-reducir con PCA a 30 dims antes de t-SNE para eliminar ruido y acelerar el cómputo.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2D — Agrupamiento por Categoría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n=5,000 | PERPLEXITY=30 | PRE-PCA 30 DIMS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59436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097280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11696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0" y="1389888"/>
            <a:ext cx="2103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0" y="1417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visibles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75120" y="16642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categorías forman nubes diferenciadas en el espacio t-SNE, confirmando que el catálogo tiene estructura por tipo de alimento.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0" y="2377440"/>
            <a:ext cx="2103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75120" y="2404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Fronteras difusas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7512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Solapamiento entre categorías adyacentes (e.g. Dairy y Beverages) refleja productos con perfiles nutricionales similares.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583680" y="3364992"/>
            <a:ext cx="21031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675120" y="33924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analítico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675120" y="3639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identificar qué productos son 'fronterizos' entre categorías — útil para recomendaciones de sustitución.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al Dashboard Beta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4864" cy="25603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VISTAS AVANZADAS EN TABLEAU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15568"/>
            <a:ext cx="2606040" cy="274320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63040"/>
            <a:ext cx="640080" cy="237744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630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7922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PCA 2D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17627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PC1 vs PC2 sobre 25,819 eventos. Color por action_type (IN/OUT). Filtro por categoría. Identifica estructura latente de movimientos.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218688"/>
            <a:ext cx="2377440" cy="237744"/>
          </a:xfrm>
          <a:prstGeom prst="rect">
            <a:avLst/>
          </a:prstGeom>
          <a:solidFill>
            <a:srgbClr val="E8F2EB"/>
          </a:solidFill>
          <a:ln w="6350">
            <a:solidFill>
              <a:srgbClr val="A8C9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32186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pca_components_tableau.csv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3511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PC1, PC2, PC3 + metadata completo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91840" y="1115568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115568"/>
            <a:ext cx="2606040" cy="274320"/>
          </a:xfrm>
          <a:prstGeom prst="rect">
            <a:avLst/>
          </a:prstGeom>
          <a:solidFill>
            <a:srgbClr val="5A8F68"/>
          </a:solidFill>
          <a:ln w="12700">
            <a:solidFill>
              <a:srgbClr val="5A8F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463040"/>
            <a:ext cx="640080" cy="237744"/>
          </a:xfrm>
          <a:prstGeom prst="rect">
            <a:avLst/>
          </a:prstGeom>
          <a:solidFill>
            <a:srgbClr val="5A8F68"/>
          </a:solidFill>
          <a:ln w="12700">
            <a:solidFill>
              <a:srgbClr val="5A8F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4630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01568" y="17922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t-SNE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01568" y="217627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tSNE-1 vs tSNE-2 sobre muestra de 5,000 puntos. Color por categoría (tab10). Revela agrupamiento natural del catálogo.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01568" y="3218688"/>
            <a:ext cx="2377440" cy="237744"/>
          </a:xfrm>
          <a:prstGeom prst="rect">
            <a:avLst/>
          </a:prstGeom>
          <a:solidFill>
            <a:srgbClr val="E8F2EB"/>
          </a:solidFill>
          <a:ln w="6350">
            <a:solidFill>
              <a:srgbClr val="A8C9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9856" y="32186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tsne_sample_tableau.csv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01568" y="3511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tsne_1, tsne_2 + metadata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26480" y="1115568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9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115568"/>
            <a:ext cx="2606040" cy="274320"/>
          </a:xfrm>
          <a:prstGeom prst="rect">
            <a:avLst/>
          </a:prstGeom>
          <a:solidFill>
            <a:srgbClr val="7A9E7E"/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6208" y="1463040"/>
            <a:ext cx="640080" cy="237744"/>
          </a:xfrm>
          <a:prstGeom prst="rect">
            <a:avLst/>
          </a:prstGeom>
          <a:solidFill>
            <a:srgbClr val="7A9E7E"/>
          </a:solidFill>
          <a:ln w="12700">
            <a:solidFill>
              <a:srgbClr val="7A9E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4630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36208" y="17922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 Varianza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217627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líneas de varianza acumulada por componente. Referencia visual al umbral del 90%. Justifica la elección de 29 componentes.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36208" y="3218688"/>
            <a:ext cx="2377440" cy="237744"/>
          </a:xfrm>
          <a:prstGeom prst="rect">
            <a:avLst/>
          </a:prstGeom>
          <a:solidFill>
            <a:srgbClr val="E8F2EB"/>
          </a:solidFill>
          <a:ln w="6350">
            <a:solidFill>
              <a:srgbClr val="A8C9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3218688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F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pca_variance_table.csv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36208" y="3511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componente, var_explicada, var_acumulada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solidFill>
            <a:srgbClr val="3F6B4E"/>
          </a:solidFill>
          <a:ln w="12700">
            <a:solidFill>
              <a:srgbClr val="3F6B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6451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Workbook: tableau/Sem12_Dashboard_SmartKitchen.twbx  ·  Datos extraídos (.hyper) para portabilidad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F6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Conclusiones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27432"/>
          </a:xfrm>
          <a:prstGeom prst="rect">
            <a:avLst/>
          </a:prstGeom>
          <a:solidFill>
            <a:srgbClr val="A8C9B0"/>
          </a:solidFill>
          <a:ln w="12700">
            <a:solidFill>
              <a:srgbClr val="A8C9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3840480" cy="658368"/>
          </a:xfrm>
          <a:prstGeom prst="rect">
            <a:avLst/>
          </a:prstGeom>
          <a:solidFill>
            <a:srgbClr val="2E5039"/>
          </a:solidFill>
          <a:ln w="6350">
            <a:solidFill>
              <a:srgbClr val="5A8F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t-SNE no es determinista en sentido estricto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5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se fija random_state=42, el resultado varía con versiones de sklearn; no es comparable entre runs de diferente versión.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840480" cy="658368"/>
          </a:xfrm>
          <a:prstGeom prst="rect">
            <a:avLst/>
          </a:prstGeom>
          <a:solidFill>
            <a:srgbClr val="2E5039"/>
          </a:solidFill>
          <a:ln w="6350">
            <a:solidFill>
              <a:srgbClr val="5A8F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12140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Datos sintéticos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395728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5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es generado artificialmente; los clusters observados reflejan la distribución generativa, no necesariamente hogares reales.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852928"/>
            <a:ext cx="3840480" cy="658368"/>
          </a:xfrm>
          <a:prstGeom prst="rect">
            <a:avLst/>
          </a:prstGeom>
          <a:solidFill>
            <a:srgbClr val="2E5039"/>
          </a:solidFill>
          <a:ln w="6350">
            <a:solidFill>
              <a:srgbClr val="5A8F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87121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Muestra t-SNE = 5,000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145536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5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sacrifica el 80.6% del dataset para viabilidad computacional; la muestra puede no representar categorías minoritarias.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602736"/>
            <a:ext cx="3840480" cy="658368"/>
          </a:xfrm>
          <a:prstGeom prst="rect">
            <a:avLst/>
          </a:prstGeom>
          <a:solidFill>
            <a:srgbClr val="2E5039"/>
          </a:solidFill>
          <a:ln w="6350">
            <a:solidFill>
              <a:srgbClr val="5A8F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62102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PCA no captura no-linealidades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3895344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5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espacio real es no lineal, los 29 componentes pueden perder estructura relevante que t-SNE sí detecta.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353312"/>
            <a:ext cx="3931920" cy="658368"/>
          </a:xfrm>
          <a:prstGeom prst="rect">
            <a:avLst/>
          </a:prstGeom>
          <a:solidFill>
            <a:srgbClr val="2E5039"/>
          </a:solidFill>
          <a:ln w="6350">
            <a:solidFill>
              <a:srgbClr val="5A8F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137160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Componente avanzado implementado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1645920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5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t-SNE correctamente aplicados sobre la matriz de features de 61 dimensiones.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103120"/>
            <a:ext cx="3931920" cy="658368"/>
          </a:xfrm>
          <a:prstGeom prst="rect">
            <a:avLst/>
          </a:prstGeom>
          <a:solidFill>
            <a:srgbClr val="2E5039"/>
          </a:solidFill>
          <a:ln w="6350">
            <a:solidFill>
              <a:srgbClr val="5A8F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12140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Reducción significativa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2395728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5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componentes retienen el 90% de la información — eficiencia demostrada.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852928"/>
            <a:ext cx="3931920" cy="658368"/>
          </a:xfrm>
          <a:prstGeom prst="rect">
            <a:avLst/>
          </a:prstGeom>
          <a:solidFill>
            <a:srgbClr val="2E5039"/>
          </a:solidFill>
          <a:ln w="6350">
            <a:solidFill>
              <a:srgbClr val="5A8F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871216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Clustering observable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64608" y="3145536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5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revela agrupamiento por categoría no visible en la proyección PCA lineal.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3602736"/>
            <a:ext cx="3931920" cy="658368"/>
          </a:xfrm>
          <a:prstGeom prst="rect">
            <a:avLst/>
          </a:prstGeom>
          <a:solidFill>
            <a:srgbClr val="2E5039"/>
          </a:solidFill>
          <a:ln w="6350">
            <a:solidFill>
              <a:srgbClr val="5A8F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62102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Dashboard beta listo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389534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5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vistas integradas en Tableau permiten la exploración interactiva del espacio reducido.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E5039"/>
          </a:solidFill>
          <a:ln w="12700">
            <a:solidFill>
              <a:srgbClr val="2E50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81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6 completada  ·  Próximo: Entrega 7 — Dashboard Final y Defensa  ·  Semana 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Entrega 6 — Componente Avanzado: PCA + t-SNE</dc:title>
  <dc:subject>PptxGenJS Presentation</dc:subject>
  <dc:creator>SKI — Smart Kitchen Intelligence</dc:creator>
  <cp:lastModifiedBy>SKI — Smart Kitchen Intelligence</cp:lastModifiedBy>
  <cp:revision>1</cp:revision>
  <dcterms:created xsi:type="dcterms:W3CDTF">2026-06-13T02:03:47Z</dcterms:created>
  <dcterms:modified xsi:type="dcterms:W3CDTF">2026-06-13T02:03:47Z</dcterms:modified>
</cp:coreProperties>
</file>