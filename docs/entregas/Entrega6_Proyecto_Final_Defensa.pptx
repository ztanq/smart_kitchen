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SMART KITCHEN INTELLIGENCE (SKI)</a:t>
            </a:r>
          </a:p>
          <a:p>
            <a:pPr>
              <a:spcBef>
                <a:spcPts val="1400"/>
              </a:spcBef>
              <a:defRPr sz="2000">
                <a:solidFill>
                  <a:srgbClr val="B8C2E0"/>
                </a:solidFill>
                <a:latin typeface="Segoe UI"/>
              </a:defRPr>
            </a:pPr>
            <a:r>
              <a:t>Entrega 6 — Proyecto Final y Defensa</a:t>
            </a:r>
          </a:p>
          <a:p>
            <a:pPr>
              <a:spcBef>
                <a:spcPts val="1800"/>
              </a:spcBef>
              <a:defRPr sz="1500" i="1">
                <a:solidFill>
                  <a:srgbClr val="DFE4F2"/>
                </a:solidFill>
                <a:latin typeface="Segoe UI"/>
              </a:defRPr>
            </a:pPr>
            <a:r>
              <a:t>¿Qué impacto tiene la ubicación física de un alimento en la pérdida económica y de salud del hogar?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Arroyo Gamarra, Favio Enrique · Melgar Puertas, José Guillermo · Reyna Alvarado, Gabriel Alonso</a:t>
            </a:r>
          </a:p>
          <a:p>
            <a:pPr>
              <a:defRPr sz="1100">
                <a:solidFill>
                  <a:srgbClr val="B8C2E0"/>
                </a:solidFill>
                <a:latin typeface="Segoe UI"/>
              </a:defRPr>
            </a:pPr>
            <a:r>
              <a:t>1ACC0211 · Data Visualization · NRC 18519 · UPC 2026-I · Prof. Carlos Adrián Alarcón Delgado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AGENDA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 la pregunta de negocio a las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01 · Problema de negocio y pregunta de investigación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02 · Dataset y usuario objetivo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03 · Pipeline Python — metodología end-to-end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04 · Limpieza de datos (reglas P1–P6)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05 · Modelado predictivo y control de fuga de datos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06 · Componente avanzado: PCA + t-SNE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07 · Dashboard: KPIs, contexto de gasto, gráficos principales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08 · Insights, conclusiones y recomendaciones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09 · Limitaciones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Smart Kitchen Intelligence (SKI) — Entrega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MOTIVACIÓN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El desperdicio de alimentos es prevenible, pero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D2B4F"/>
                </a:solidFill>
                <a:latin typeface="Segoe UI"/>
              </a:rPr>
              <a:t>Problema:  </a:t>
            </a:r>
            <a:r>
              <a:rPr sz="1700">
                <a:solidFill>
                  <a:srgbClr val="2A2F3A"/>
                </a:solidFill>
                <a:latin typeface="Segoe UI"/>
              </a:rPr>
              <a:t>casi ningún hogar tiene visibilidad agregada de sus propios patrones de compra, consumo y desperdicio — las decisiones de compra semanal se toman a ciegas.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D2B4F"/>
                </a:solidFill>
                <a:latin typeface="Segoe UI"/>
              </a:rPr>
              <a:t>Pregunta de investigación:  </a:t>
            </a:r>
            <a:r>
              <a:rPr sz="1700">
                <a:solidFill>
                  <a:srgbClr val="2A2F3A"/>
                </a:solidFill>
                <a:latin typeface="Segoe UI"/>
              </a:rPr>
              <a:t>¿qué impacto tiene la ubicación física (Refrigerador / Despensa / Estante) en la pérdida económica y de salud del hogar?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D2B4F"/>
                </a:solidFill>
                <a:latin typeface="Segoe UI"/>
              </a:rPr>
              <a:t>Usuario objetivo:  </a:t>
            </a:r>
            <a:r>
              <a:rPr sz="1700">
                <a:solidFill>
                  <a:srgbClr val="2A2F3A"/>
                </a:solidFill>
                <a:latin typeface="Segoe UI"/>
              </a:rPr>
              <a:t>responsable de compras y planificación de comidas de un hogar de 2–4 personas; usa el dashboard una vez por semana antes de la lista de compras.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D2B4F"/>
                </a:solidFill>
                <a:latin typeface="Segoe UI"/>
              </a:rPr>
              <a:t>Por qué importa:  </a:t>
            </a:r>
            <a:r>
              <a:rPr sz="1700">
                <a:solidFill>
                  <a:srgbClr val="2A2F3A"/>
                </a:solidFill>
                <a:latin typeface="Segoe UI"/>
              </a:rPr>
              <a:t>sirve como prototipo replicable — la misma lógica aplica a supermercados, bancos de alimentos o cadenas de retail que necesiten priorizar dónde intervenir.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docs/proposal.md — pregunta analítica y usuario objetivo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A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DATASET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Catálogo real + movimientos simulados y calibrados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1371600"/>
          </a:xfrm>
          <a:prstGeom prst="roundRect">
            <a:avLst/>
          </a:prstGeom>
          <a:solidFill>
            <a:srgbClr val="F7F8FC"/>
          </a:solidFill>
          <a:ln w="25400">
            <a:solidFill>
              <a:srgbClr val="1D2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defRPr sz="1000" b="1">
                <a:solidFill>
                  <a:srgbClr val="5B6680"/>
                </a:solidFill>
                <a:latin typeface="Segoe UI"/>
              </a:defRPr>
            </a:pPr>
            <a:r>
              <a:t>EVENTOS TOTALES</a:t>
            </a:r>
          </a:p>
          <a:p>
            <a:pPr>
              <a:defRPr sz="2600" b="1">
                <a:solidFill>
                  <a:srgbClr val="1D2B4F"/>
                </a:solidFill>
                <a:latin typeface="Segoe UI"/>
              </a:defRPr>
            </a:pPr>
            <a:r>
              <a:t>25,819</a:t>
            </a:r>
          </a:p>
          <a:p>
            <a:pPr>
              <a:defRPr sz="1050">
                <a:solidFill>
                  <a:srgbClr val="2A2F3A"/>
                </a:solidFill>
                <a:latin typeface="Segoe UI"/>
              </a:defRPr>
            </a:pPr>
            <a:r>
              <a:t>10 hogares · 90 días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1371600"/>
          </a:xfrm>
          <a:prstGeom prst="roundRect">
            <a:avLst/>
          </a:prstGeom>
          <a:solidFill>
            <a:srgbClr val="F7F8FC"/>
          </a:solidFill>
          <a:ln w="25400">
            <a:solidFill>
              <a:srgbClr val="5CB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defRPr sz="1000" b="1">
                <a:solidFill>
                  <a:srgbClr val="5B6680"/>
                </a:solidFill>
                <a:latin typeface="Segoe UI"/>
              </a:defRPr>
            </a:pPr>
            <a:r>
              <a:t>PRODUCTOS EN CATÁLOGO</a:t>
            </a:r>
          </a:p>
          <a:p>
            <a:pPr>
              <a:defRPr sz="2600" b="1">
                <a:solidFill>
                  <a:srgbClr val="5CB55C"/>
                </a:solidFill>
                <a:latin typeface="Segoe UI"/>
              </a:defRPr>
            </a:pPr>
            <a:r>
              <a:t>50</a:t>
            </a:r>
          </a:p>
          <a:p>
            <a:pPr>
              <a:defRPr sz="1050">
                <a:solidFill>
                  <a:srgbClr val="2A2F3A"/>
                </a:solidFill>
                <a:latin typeface="Segoe UI"/>
              </a:defRPr>
            </a:pPr>
            <a:r>
              <a:t>OpenFoodFacts (real)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566160" cy="1371600"/>
          </a:xfrm>
          <a:prstGeom prst="roundRect">
            <a:avLst/>
          </a:prstGeom>
          <a:solidFill>
            <a:srgbClr val="F7F8FC"/>
          </a:solidFill>
          <a:ln w="25400">
            <a:solidFill>
              <a:srgbClr val="E8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defRPr sz="1000" b="1">
                <a:solidFill>
                  <a:srgbClr val="5B6680"/>
                </a:solidFill>
                <a:latin typeface="Segoe UI"/>
              </a:defRPr>
            </a:pPr>
            <a:r>
              <a:t>UBICACIONES FÍSICAS</a:t>
            </a:r>
          </a:p>
          <a:p>
            <a:pPr>
              <a:defRPr sz="2600" b="1">
                <a:solidFill>
                  <a:srgbClr val="E8A83A"/>
                </a:solidFill>
                <a:latin typeface="Segoe UI"/>
              </a:defRPr>
            </a:pPr>
            <a:r>
              <a:t>3</a:t>
            </a:r>
          </a:p>
          <a:p>
            <a:pPr>
              <a:defRPr sz="1050">
                <a:solidFill>
                  <a:srgbClr val="2A2F3A"/>
                </a:solidFill>
                <a:latin typeface="Segoe UI"/>
              </a:defRPr>
            </a:pPr>
            <a:r>
              <a:t>Refrigerador · Despensa · Estante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Catálogo:  </a:t>
            </a:r>
            <a:r>
              <a:rPr sz="1500">
                <a:solidFill>
                  <a:srgbClr val="2A2F3A"/>
                </a:solidFill>
                <a:latin typeface="Segoe UI"/>
              </a:rPr>
              <a:t>50 productos reales de OpenFoodFacts (API pública ODbL) — calorías, proteínas, carbohidratos, NutriScore.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Movimientos:  </a:t>
            </a:r>
            <a:r>
              <a:rPr sz="1500">
                <a:solidFill>
                  <a:srgbClr val="2A2F3A"/>
                </a:solidFill>
                <a:latin typeface="Segoe UI"/>
              </a:rPr>
              <a:t>simulación estocástica (src/simulation.py) calibrada con patrones reales de compra de Instacart Online Grocery y reglas de vida útil de la USDA FoodKeeper App — no son números al azar.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household_id:  </a:t>
            </a:r>
            <a:r>
              <a:rPr sz="1500">
                <a:solidFill>
                  <a:srgbClr val="2A2F3A"/>
                </a:solidFill>
                <a:latin typeface="Segoe UI"/>
              </a:rPr>
              <a:t>identificador sintético (0–9) de 10 hogares simulados independientes — variable de segmentación, no un dato personal ni generalizable.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Por qué simulado y no 100% real:  </a:t>
            </a:r>
            <a:r>
              <a:rPr sz="1500">
                <a:solidFill>
                  <a:srgbClr val="2A2F3A"/>
                </a:solidFill>
                <a:latin typeface="Segoe UI"/>
              </a:rPr>
              <a:t>conseguir datos reales de inventario doméstico a este nivel de detalle no es viable en el tiempo del curso; se declara la naturaleza sintética explícitamente.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docs/data_dictionary.md · docs/source_inventory.md · docs/ethics_note.md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A3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METODOLOGÍA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Pipeline Python reproducible, paso a paso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simulation.py — genera movements_raw.csv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67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ingestion.py — cataloga desde OpenFoodFacts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71215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anomaly_injection.py — inyecta anomalías realistas (ejercita la limpieza)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83864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preprocessing.py — limpieza P1–P6 → inventory_v1.csv (25,819 × 17)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4223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features.py + reduction.py — matriz de 61 features, PCA + t-SNE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export_star_schema.py — modelo en estrella para Tableau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504688"/>
            <a:ext cx="365760" cy="365760"/>
          </a:xfrm>
          <a:prstGeom prst="ellipse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5896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2A2F3A"/>
                </a:solidFill>
                <a:latin typeface="Segoe UI"/>
              </a:defRPr>
            </a:pPr>
            <a:r>
              <a:t>build_dashboard_html.py / build_dashboard_twb.py — dashboards finales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docs/runbook.md — secuencia completa y reproducible desde la raíz del repo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7200" y="1554480"/>
            <a:ext cx="11064240" cy="457200"/>
          </a:xfrm>
          <a:prstGeom prst="rect">
            <a:avLst/>
          </a:prstGeom>
          <a:solidFill>
            <a:srgbClr val="1D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5C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LIMPIEZA DE DATOS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6 reglas verificables, cada una con efecto cuantificado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Regla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Nombre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544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Qué hace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Efecto medido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2140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Outlier calórico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Umbral físico 900 kcal/100g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2140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0 outliers en la fuente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8833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Homologación de categorías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88336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dept_id numérico → category_name + location derivada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88336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6 categorías legibles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55264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55264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Integridad referencial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5526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product_id huérfano en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55264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0 huérfanos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22192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Tipos de dato explícitos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82219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cast antes de cualquier operación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2219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evita inferencia inconsistente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8912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NutriScore faltante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891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'Falta Dato' → nulo estructural (no imputado)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8912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7 productos / 3,576 eventos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5604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D2B4F"/>
                </a:solidFill>
                <a:latin typeface="Segoe UI"/>
              </a:defRPr>
            </a:pPr>
            <a:r>
              <a:t>P6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5604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Deduplicación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95604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clave event_id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560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A2F3A"/>
                </a:solidFill>
                <a:latin typeface="Segoe UI"/>
              </a:defRPr>
            </a:pPr>
            <a:r>
              <a:t>0 duplicados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docs/bitacora_entregas.md — Entrega 2 · verificado por reimplementación independiente (notebook 02 vs. preprocessing.py)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MODELADO PREDICTIVO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Random Forest vs. Regresión Logística, con control de fuga de datos</a:t>
            </a:r>
          </a:p>
        </p:txBody>
      </p:sp>
      <p:pic>
        <p:nvPicPr>
          <p:cNvPr id="4" name="Picture 3" descr="comparac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527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Problema:  </a:t>
            </a:r>
            <a:r>
              <a:rPr sz="1500">
                <a:solidFill>
                  <a:srgbClr val="2A2F3A"/>
                </a:solidFill>
                <a:latin typeface="Segoe UI"/>
              </a:rPr>
              <a:t>clasificación binaria de eventos OUT → is_waste (Waste/Forced_Waste) vs. Consumption.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class_weight='balanced':  </a:t>
            </a:r>
            <a:r>
              <a:rPr sz="1500">
                <a:solidFill>
                  <a:srgbClr val="2A2F3A"/>
                </a:solidFill>
                <a:latin typeface="Segoe UI"/>
              </a:rPr>
              <a:t>el target está desbalanceado (~65% consumo / ~35% pérdida).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Ganador:  </a:t>
            </a:r>
            <a:r>
              <a:rPr sz="1500">
                <a:solidFill>
                  <a:srgbClr val="2A2F3A"/>
                </a:solidFill>
                <a:latin typeface="Segoe UI"/>
              </a:rPr>
              <a:t>Random Forest — superior en F1, Recall y ROC-AUC.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D2B4F"/>
                </a:solidFill>
                <a:latin typeface="Segoe UI"/>
              </a:rPr>
              <a:t>Decisión técnica clave:  </a:t>
            </a:r>
            <a:r>
              <a:rPr sz="1500">
                <a:solidFill>
                  <a:srgbClr val="2A2F3A"/>
                </a:solidFill>
                <a:latin typeface="Segoe UI"/>
              </a:rPr>
              <a:t>dias_para_vencer resultó ser fuga de datos — el simulador la usaba para asignar las etiquetas (F1=1.0 trivial si se incluye). Se excluyó del entrenamiento; se conservó en el dataset para uso descriptivo.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docs/tabla_comparativa_modelos.md · notebooks/03_modelo_metricas.ipynb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COMPONENTE AVANZADO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PCA + t-SNE: el hallazgo que valida todo el dashboard</a:t>
            </a:r>
          </a:p>
        </p:txBody>
      </p:sp>
      <p:pic>
        <p:nvPicPr>
          <p:cNvPr id="4" name="Picture 3" descr="tsne_scatter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120640" cy="2987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50">
                <a:solidFill>
                  <a:srgbClr val="1D2B4F"/>
                </a:solidFill>
                <a:latin typeface="Segoe UI"/>
              </a:rPr>
              <a:t>Por qué:  </a:t>
            </a:r>
            <a:r>
              <a:rPr sz="1450">
                <a:solidFill>
                  <a:srgbClr val="2A2F3A"/>
                </a:solidFill>
                <a:latin typeface="Segoe UI"/>
              </a:rPr>
              <a:t>61 variables por evento; PCA (lineal, mide varianza retenida) + t-SNE (no lineal, agrupamientos locales) — complementarias, no intercambiables.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D2B4F"/>
                </a:solidFill>
                <a:latin typeface="Segoe UI"/>
              </a:rPr>
              <a:t>Resultado:  </a:t>
            </a:r>
            <a:r>
              <a:rPr sz="1450">
                <a:solidFill>
                  <a:srgbClr val="2A2F3A"/>
                </a:solidFill>
                <a:latin typeface="Segoe UI"/>
              </a:rPr>
              <a:t>29/61 componentes retienen 90% de varianza. Los productos se agrupan casi perfectamente por categoría.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D2B4F"/>
                </a:solidFill>
                <a:latin typeface="Segoe UI"/>
              </a:rPr>
              <a:t>Hallazgo de negocio:  </a:t>
            </a:r>
            <a:r>
              <a:rPr sz="1450">
                <a:solidFill>
                  <a:srgbClr val="2A2F3A"/>
                </a:solidFill>
                <a:latin typeface="Segoe UI"/>
              </a:rPr>
              <a:t>location es función determinista de category_name (verificado con crosstab) — cada categoría vive en una sola ubicación.</a:t>
            </a:r>
          </a:p>
          <a:p>
            <a:pPr>
              <a:spcAft>
                <a:spcPts val="1000"/>
              </a:spcAft>
            </a:pPr>
            <a:r>
              <a:rPr b="1" sz="1450">
                <a:solidFill>
                  <a:srgbClr val="1D2B4F"/>
                </a:solidFill>
                <a:latin typeface="Segoe UI"/>
              </a:rPr>
              <a:t>Impacto:  </a:t>
            </a:r>
            <a:r>
              <a:rPr sz="1450">
                <a:solidFill>
                  <a:srgbClr val="2A2F3A"/>
                </a:solidFill>
                <a:latin typeface="Segoe UI"/>
              </a:rPr>
              <a:t>el dashboard organiza todo por ubicación porque es, estructuralmente, la variable que más separa los datos — no una elección arbitraria.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docs/componente_avanzado.md — justificación, mecánica, aplicación e interpretación completas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DASHBOARD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KPIs comparativos — cada número, con su referencia</a:t>
            </a:r>
          </a:p>
        </p:txBody>
      </p:sp>
      <p:pic>
        <p:nvPicPr>
          <p:cNvPr id="4" name="Picture 3" descr="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1194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49039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2F3A"/>
                </a:solidFill>
                <a:latin typeface="Segoe UI"/>
              </a:defRPr>
            </a:pPr>
            <a:r>
              <a:t>•  17.5% del gasto total en compras terminó perdido — casi idéntico al 17% que estima el PNUMA/ONU a nivel mundial (Food Waste Index 2024).</a:t>
            </a:r>
          </a:p>
          <a:p>
            <a:pPr>
              <a:spcAft>
                <a:spcPts val="1000"/>
              </a:spcAft>
              <a:defRPr sz="1600">
                <a:solidFill>
                  <a:srgbClr val="2A2F3A"/>
                </a:solidFill>
                <a:latin typeface="Segoe UI"/>
              </a:defRPr>
            </a:pPr>
            <a:r>
              <a:t>•  El Refrigerador concentra 97% de la pérdida económica.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tableau/Sem12_Dashboard_SmartKitchen.html — cada KPI se calcula en vivo desde los datos, no está hardcodeado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D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DASHBOARD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Evolución temporal y cruce con calidad nutricional</a:t>
            </a:r>
          </a:p>
        </p:txBody>
      </p:sp>
      <p:pic>
        <p:nvPicPr>
          <p:cNvPr id="4" name="Picture 3" descr="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134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Leyendas al costado, títulos descriptivos, insight clave debajo de cada título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5C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INSIGHTS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Lo que dice el dashboard, en 5 líneas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El Refrigerador concentra 97% de la pérdida económica (S/ 37,568 de S/ 38,830).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Tasa de desperdicio en Refrigerador: 37.5% — 9.1x más que Estante (4.1%), la ubicación más eficiente.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S/ 24,000 en frutas/verduras saludables (NutriScore A-B) se pierden en el Refrigerador — 45x más que en Despensa. La pérdida no es comida chatarra.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Los productos salen del inventario, en promedio, 2.7 días DESPUÉS de vencer.</a:t>
            </a:r>
          </a:p>
          <a:p>
            <a:pPr>
              <a:spcAft>
                <a:spcPts val="1000"/>
              </a:spcAft>
              <a:defRPr sz="1700">
                <a:solidFill>
                  <a:srgbClr val="2A2F3A"/>
                </a:solidFill>
                <a:latin typeface="Segoe UI"/>
              </a:defRPr>
            </a:pPr>
            <a:r>
              <a:t>•  17.5% del gasto en compras perdido ≈ 17% del benchmark mundial (PNUMA/ONU 2024) — la simulación es una aproximación razonable a un problema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docs/executive_summary.md §4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CONCLUSIONES Y RECOMENDACIONES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 los datos a la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D2B4F"/>
                </a:solidFill>
                <a:latin typeface="Segoe UI"/>
              </a:rPr>
              <a:t>Conclusión:  </a:t>
            </a:r>
            <a:r>
              <a:rPr sz="1600">
                <a:solidFill>
                  <a:srgbClr val="2A2F3A"/>
                </a:solidFill>
                <a:latin typeface="Segoe UI"/>
              </a:rPr>
              <a:t>responder "¿dónde se pierde el dinero y la salud?" con rigor exigió limpieza verificada por partida doble, modelado con control de fuga de datos, y una validación estructural (PCA) de la premisa del dashboard.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D2B4F"/>
                </a:solidFill>
                <a:latin typeface="Segoe UI"/>
              </a:rPr>
              <a:t>Recomendación 1:  </a:t>
            </a:r>
            <a:r>
              <a:rPr sz="1600">
                <a:solidFill>
                  <a:srgbClr val="2A2F3A"/>
                </a:solidFill>
                <a:latin typeface="Segoe UI"/>
              </a:rPr>
              <a:t>priorizar el Refrigerador en cualquier intervención — ahí vive el 97% de la pérdida.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D2B4F"/>
                </a:solidFill>
                <a:latin typeface="Segoe UI"/>
              </a:rPr>
              <a:t>Recomendación 2:  </a:t>
            </a:r>
            <a:r>
              <a:rPr sz="1600">
                <a:solidFill>
                  <a:srgbClr val="2A2F3A"/>
                </a:solidFill>
                <a:latin typeface="Segoe UI"/>
              </a:rPr>
              <a:t>adelantar la alerta de vencimiento a 3–5 días antes (rango_criticidad ya prototipado en Tableau), dado que hoy se actúa ~2.7 días tarde.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D2B4F"/>
                </a:solidFill>
                <a:latin typeface="Segoe UI"/>
              </a:rPr>
              <a:t>Recomendación 3:  </a:t>
            </a:r>
            <a:r>
              <a:rPr sz="1600">
                <a:solidFill>
                  <a:srgbClr val="2A2F3A"/>
                </a:solidFill>
                <a:latin typeface="Segoe UI"/>
              </a:rPr>
              <a:t>no tratar "ubicación" y "categoría" como palancas independientes con este dataset — son la misma variable.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docs/defense_narrative.md §9-10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5B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C2E0"/>
                </a:solidFill>
                <a:latin typeface="Segoe UI"/>
              </a:defRPr>
            </a:pPr>
            <a:r>
              <a:t>LIMITACIONES Y TRABAJO FUTURO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Qué no dice este proyecto, y qué sigue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Limitación:  </a:t>
            </a:r>
            <a:r>
              <a:rPr sz="1550">
                <a:solidFill>
                  <a:srgbClr val="2A2F3A"/>
                </a:solidFill>
                <a:latin typeface="Segoe UI"/>
              </a:rPr>
              <a:t>dataset sintético — simulación calibrada, no observaciones de hogares reales.</a:t>
            </a:r>
          </a:p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Limitación:  </a:t>
            </a:r>
            <a:r>
              <a:rPr sz="1550">
                <a:solidFill>
                  <a:srgbClr val="2A2F3A"/>
                </a:solidFill>
                <a:latin typeface="Segoe UI"/>
              </a:rPr>
              <a:t>location ≡ category_name en este dataset — no se puede aislar "dónde se guarda" de "qué se guarda".</a:t>
            </a:r>
          </a:p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Limitación:  </a:t>
            </a:r>
            <a:r>
              <a:rPr sz="1550">
                <a:solidFill>
                  <a:srgbClr val="2A2F3A"/>
                </a:solidFill>
                <a:latin typeface="Segoe UI"/>
              </a:rPr>
              <a:t>catálogo sin productos NutriScore E; el bucket "Riesgo (D-E)" nunca se puebla con estos 50 productos.</a:t>
            </a:r>
          </a:p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Futuro:  </a:t>
            </a:r>
            <a:r>
              <a:rPr sz="1550">
                <a:solidFill>
                  <a:srgbClr val="2A2F3A"/>
                </a:solidFill>
                <a:latin typeface="Segoe UI"/>
              </a:rPr>
              <a:t>piloto con datos reales de hogares para desconfundir ubicación de categoría.</a:t>
            </a:r>
          </a:p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Futuro:  </a:t>
            </a:r>
            <a:r>
              <a:rPr sz="1550">
                <a:solidFill>
                  <a:srgbClr val="2A2F3A"/>
                </a:solidFill>
                <a:latin typeface="Segoe UI"/>
              </a:rPr>
              <a:t>empaquetar el .twbx final en Tableau Desktop y verificar filtros/parámetros en vivo.</a:t>
            </a:r>
          </a:p>
          <a:p>
            <a:pPr>
              <a:spcAft>
                <a:spcPts val="1000"/>
              </a:spcAft>
            </a:pPr>
            <a:r>
              <a:rPr b="1" sz="1550">
                <a:solidFill>
                  <a:srgbClr val="1D2B4F"/>
                </a:solidFill>
                <a:latin typeface="Segoe UI"/>
              </a:rPr>
              <a:t>Futuro:  </a:t>
            </a:r>
            <a:r>
              <a:rPr sz="1550">
                <a:solidFill>
                  <a:srgbClr val="2A2F3A"/>
                </a:solidFill>
                <a:latin typeface="Segoe UI"/>
              </a:rPr>
              <a:t>alerta operativa a 72 horas basada en rango_criticidad, no solo panel descriptivo.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80"/>
                </a:solidFill>
                <a:latin typeface="Segoe UI"/>
              </a:defRPr>
            </a:pPr>
            <a:r>
              <a:t>docs/QA_validation.md §10 · docs/defense_narrative.md §11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Gracias</a:t>
            </a:r>
          </a:p>
          <a:p>
            <a:pPr>
              <a:spcBef>
                <a:spcPts val="1400"/>
              </a:spcBef>
              <a:defRPr sz="1600">
                <a:solidFill>
                  <a:srgbClr val="B8C2E0"/>
                </a:solidFill>
                <a:latin typeface="Segoe UI"/>
              </a:defRPr>
            </a:pPr>
            <a:r>
              <a:t>Preguntas — repositorio y documentación completa disponibles en 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