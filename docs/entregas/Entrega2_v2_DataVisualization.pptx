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C2D9A-4C08-8744-2817-FA6CB80EA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00EE11-719A-AA92-5AE6-2AAF41FBE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514742-D8EC-86EB-23C7-4903EBA2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FBEE3C-1C4D-5F79-6A23-88346537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5C867F-9302-031C-9E25-38605295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84037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2FBBE-46EE-2EBA-039D-52ABB804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12074A-7FB5-2541-F0F8-54E9FFE91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D7DC5-5CBF-A840-4F32-C769ECA7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23D6BC-4978-6522-87D9-3C904A9D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A034E0-8D3B-97BC-DD39-35429A36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2906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F1125-B61D-6A1A-521C-323D17E9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9F9688-B12B-7690-64E7-C007EC898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9ED080-E3B6-B319-8659-72926E34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368DDC-6520-D0D4-EEE5-20EA8429C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F520F8-135B-4D45-1904-5CF1817A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1503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5407D-371F-4F5F-246A-61A4C8D4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77A07-2BA0-CDCC-8AAE-98E48DB1E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8E2917-AAF6-AE48-2C98-FD41E7641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1D9DEB-7929-583A-79F5-7DE68E3C3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26D3C9-B434-33B5-0693-36F9B52A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667DDA-355D-6695-0F86-A6E53E96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3439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5249D-870B-5F9B-C380-20AB5FFF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DB92E7-DA47-CE43-5D7B-C4C4C3C4B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932466-A9D2-A9BB-DA63-D117A9687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8BA10A-3676-FEA5-ED5A-B01706913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12D490-54AB-AD38-7F4D-F480834C1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BD1693-9735-AB43-A344-2DE33C01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6F5770-A31B-5445-A6BF-EDEF645C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F8F091-FCDB-7446-7200-3E343F9D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83840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BA93A-20A5-25A1-F44F-D5D19096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F9B30C-B34C-FFF5-FE06-755CE8D8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C98A6FA-30DB-F5AD-B831-C45716A3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7A0F8A-769C-639C-BBE3-2BEAC3C5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74094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1A5D6DB-C95C-E347-2C50-F0AA4AF1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A20025-A350-A732-9D61-924CB22E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274171-48B6-93B2-6031-87C26B08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77354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37594-B0CD-3160-82FA-1970F65C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021492-EF45-308C-0DF2-DD1235EA6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2416A4-3693-0B12-B72D-B2D0A6D1D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97626F-8682-6C38-A7DD-BB9CEA1E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0CFA4B-6908-08DE-F6ED-89EE66B1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0322AF-5753-D7C1-0C68-E1A5049A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34853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83CBB-9B71-4C79-DFD5-BA087A62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9C1E99-CE15-66B7-E10E-3389E8F6A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6AD34C-63BA-EC96-5806-044A87359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2E7C8F-481A-5EA0-2658-D5BD29D2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422902-8BC3-56C7-D117-35501380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4A82EC-30AF-BA8D-52A5-64100F2C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78747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58C3F-1D7D-3997-4DB4-1A269AB2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689E16-E3FE-143E-A39A-36F91E224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0BDC9C-28ED-1232-1E91-C29ED645B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9E6D68-B0E3-A0CF-7957-F2030901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89BF23-2525-958B-76A4-9C0A4542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34739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EB8B81-9D0D-0E61-C9F4-C9965F3D5B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87BFFC-F70B-0D0B-9DF2-7DD48FF60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B674F9-F484-1B8E-857B-2FCA43A7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D65D17-6521-BDB8-0C98-99BD6A60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68D7B-12C7-BD6A-9297-9107AA2F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61224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220"/>
            </a:gs>
            <a:gs pos="100000">
              <a:srgbClr val="0F1A2E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F4C9BD-B507-A906-6401-2BF727E1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EAD7B0-E533-C090-E8E9-3218EE45D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EA8F53-C7C4-72E8-C9FA-BEBBE6B0A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ED7B2-E490-49E8-9CCE-98288230B0B9}" type="datetimeFigureOut">
              <a:rPr lang="es-UY" smtClean="0"/>
              <a:t>2/5/2026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05F6D4-2C66-CD2C-B145-A4D0CBD67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CBEF3D-3533-EDD1-C6DE-43C8DB398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10B60-5C13-437F-BC4E-207455811265}" type="slidenum">
              <a:rPr lang="es-UY" smtClean="0"/>
              <a:t>‹Nº›</a:t>
            </a:fld>
            <a:endParaRPr lang="es-UY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2286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AccentDot"/>
          <p:cNvSpPr/>
          <p:nvPr userDrawn="1"/>
        </p:nvSpPr>
        <p:spPr>
          <a:xfrm>
            <a:off x="11811000" y="6604000"/>
            <a:ext cx="254000" cy="2540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FooterTag"/>
          <p:cNvSpPr txBox="1"/>
          <p:nvPr userDrawn="1"/>
        </p:nvSpPr>
        <p:spPr>
          <a:xfrm>
            <a:off x="457200" y="6500000"/>
            <a:ext cx="4500000" cy="280000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algn="l"/>
            <a:r>
              <a:rPr lang="es-ES" sz="1000" dirty="0">
                <a:solidFill>
                  <a:srgbClr val="6B7A99"/>
                </a:solidFill>
                <a:latin typeface="Aptos"/>
              </a:rPr>
              <a:t>SKI · Smart Kitchen Intelligence — Entrega 2</a:t>
            </a:r>
          </a:p>
        </p:txBody>
      </p:sp>
    </p:spTree>
    <p:extLst>
      <p:ext uri="{BB962C8B-B14F-4D97-AF65-F5344CB8AC3E}">
        <p14:creationId xmlns:p14="http://schemas.microsoft.com/office/powerpoint/2010/main" val="127430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EF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86915BB-F1CC-4051-85AE-8CD52F456D46}"/>
              </a:ext>
            </a:extLst>
          </p:cNvPr>
          <p:cNvSpPr txBox="1"/>
          <p:nvPr/>
        </p:nvSpPr>
        <p:spPr>
          <a:xfrm>
            <a:off x="762000" y="889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b="1">
                <a:solidFill>
                  <a:srgbClr val="00D4FF"/>
                </a:solidFill>
              </a:rPr>
              <a:t>ENTREGA 2 · PERFILADO Y LIMPIEZA INICIAL</a:t>
            </a:r>
            <a:endParaRPr lang="es-UY" sz="1400" b="1">
              <a:solidFill>
                <a:srgbClr val="00D4FF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CF106E-37BF-455C-903E-9D174A97B458}"/>
              </a:ext>
            </a:extLst>
          </p:cNvPr>
          <p:cNvSpPr txBox="1"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5400" b="1">
                <a:solidFill>
                  <a:srgbClr val="FFFFFF"/>
                </a:solidFill>
                <a:latin typeface="Aptos Display"/>
              </a:rPr>
              <a:t>Smart Kitchen Intelligence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83C0C1-D89F-4072-B1DC-B14425E5B646}"/>
              </a:ext>
            </a:extLst>
          </p:cNvPr>
          <p:cNvSpPr txBox="1"/>
          <p:nvPr/>
        </p:nvSpPr>
        <p:spPr>
          <a:xfrm>
            <a:off x="762000" y="23876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200" i="1">
                <a:solidFill>
                  <a:srgbClr val="AAB6CC"/>
                </a:solidFill>
              </a:rPr>
              <a:t>Analítica visual para la gestión de alimentos en una cocina doméstica</a:t>
            </a:r>
            <a:endParaRPr lang="es-UY" sz="2200" i="1">
              <a:solidFill>
                <a:srgbClr val="AAB6CC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366850-28A8-4906-9CFD-952A5CE23A16}"/>
              </a:ext>
            </a:extLst>
          </p:cNvPr>
          <p:cNvSpPr/>
          <p:nvPr/>
        </p:nvSpPr>
        <p:spPr>
          <a:xfrm>
            <a:off x="762000" y="3429000"/>
            <a:ext cx="1016000" cy="381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85D75D-5B2F-4DB7-8D77-73644FA88DA8}"/>
              </a:ext>
            </a:extLst>
          </p:cNvPr>
          <p:cNvSpPr/>
          <p:nvPr/>
        </p:nvSpPr>
        <p:spPr>
          <a:xfrm>
            <a:off x="762000" y="3810000"/>
            <a:ext cx="2540000" cy="1206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11FBF1-EFF1-4078-A0CA-89FAD02E1577}"/>
              </a:ext>
            </a:extLst>
          </p:cNvPr>
          <p:cNvSpPr txBox="1"/>
          <p:nvPr/>
        </p:nvSpPr>
        <p:spPr>
          <a:xfrm>
            <a:off x="939800" y="39624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00D4FF"/>
                </a:solidFill>
              </a:rPr>
              <a:t>EVENTOS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ECE9104-C5C8-41C2-A3DA-9F569622B12E}"/>
              </a:ext>
            </a:extLst>
          </p:cNvPr>
          <p:cNvSpPr txBox="1"/>
          <p:nvPr/>
        </p:nvSpPr>
        <p:spPr>
          <a:xfrm>
            <a:off x="939800" y="4216400"/>
            <a:ext cx="2159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800" b="1">
                <a:solidFill>
                  <a:srgbClr val="FFFFFF"/>
                </a:solidFill>
              </a:rPr>
              <a:t>25,819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0A61D29-7405-40CA-BFB3-9B38CC3B88C9}"/>
              </a:ext>
            </a:extLst>
          </p:cNvPr>
          <p:cNvSpPr txBox="1"/>
          <p:nvPr/>
        </p:nvSpPr>
        <p:spPr>
          <a:xfrm>
            <a:off x="939800" y="47244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AAB6CC"/>
                </a:solidFill>
              </a:rPr>
              <a:t>filas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5F0F4A5-0E66-46BC-9AE4-3A6148382FD5}"/>
              </a:ext>
            </a:extLst>
          </p:cNvPr>
          <p:cNvSpPr/>
          <p:nvPr/>
        </p:nvSpPr>
        <p:spPr>
          <a:xfrm>
            <a:off x="3683000" y="3810000"/>
            <a:ext cx="2540000" cy="1206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44FE0B-5A3B-414E-910E-C2BE45C30196}"/>
              </a:ext>
            </a:extLst>
          </p:cNvPr>
          <p:cNvSpPr txBox="1"/>
          <p:nvPr/>
        </p:nvSpPr>
        <p:spPr>
          <a:xfrm>
            <a:off x="3860800" y="39624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00E5A0"/>
                </a:solidFill>
              </a:rPr>
              <a:t>COLUMNAS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9F2C2B-08DC-41FB-8241-E5F97F1C5179}"/>
              </a:ext>
            </a:extLst>
          </p:cNvPr>
          <p:cNvSpPr txBox="1"/>
          <p:nvPr/>
        </p:nvSpPr>
        <p:spPr>
          <a:xfrm>
            <a:off x="3860800" y="4216400"/>
            <a:ext cx="2159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8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E9DC22E-2945-469F-9AA3-35BC4E7BD317}"/>
              </a:ext>
            </a:extLst>
          </p:cNvPr>
          <p:cNvSpPr txBox="1"/>
          <p:nvPr/>
        </p:nvSpPr>
        <p:spPr>
          <a:xfrm>
            <a:off x="3860800" y="47244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AAB6CC"/>
                </a:solidFill>
              </a:rPr>
              <a:t>tipadas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294498D-9154-414E-8EBC-CF712F8FAF8C}"/>
              </a:ext>
            </a:extLst>
          </p:cNvPr>
          <p:cNvSpPr/>
          <p:nvPr/>
        </p:nvSpPr>
        <p:spPr>
          <a:xfrm>
            <a:off x="6604000" y="3810000"/>
            <a:ext cx="2540000" cy="1206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44D24AC-4E2F-4EC0-A3DE-55F34CC4AA0A}"/>
              </a:ext>
            </a:extLst>
          </p:cNvPr>
          <p:cNvSpPr txBox="1"/>
          <p:nvPr/>
        </p:nvSpPr>
        <p:spPr>
          <a:xfrm>
            <a:off x="6781800" y="3962400"/>
            <a:ext cx="215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FFB020"/>
                </a:solidFill>
              </a:rPr>
              <a:t>COBERTURA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21420FB-D1F3-408D-B0C5-A6825D8BCDA8}"/>
              </a:ext>
            </a:extLst>
          </p:cNvPr>
          <p:cNvSpPr txBox="1"/>
          <p:nvPr/>
        </p:nvSpPr>
        <p:spPr>
          <a:xfrm>
            <a:off x="6781800" y="4216400"/>
            <a:ext cx="2159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800" b="1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A9B1317-B19E-4D8C-AC1C-20440E37D859}"/>
              </a:ext>
            </a:extLst>
          </p:cNvPr>
          <p:cNvSpPr txBox="1"/>
          <p:nvPr/>
        </p:nvSpPr>
        <p:spPr>
          <a:xfrm>
            <a:off x="6781800" y="47244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AAB6CC"/>
                </a:solidFill>
              </a:rPr>
              <a:t>días · 10 hogares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028BCF4-EA52-4DD6-9248-69763278CC32}"/>
              </a:ext>
            </a:extLst>
          </p:cNvPr>
          <p:cNvSpPr txBox="1"/>
          <p:nvPr/>
        </p:nvSpPr>
        <p:spPr>
          <a:xfrm>
            <a:off x="762000" y="52324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00D4FF"/>
                </a:solidFill>
              </a:rPr>
              <a:t>1ACC0211 · DATA VISUALIZATION  ·  NRC 18519  ·  UPC 2026-I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4E021DA-76EF-4887-B583-D71C96222196}"/>
              </a:ext>
            </a:extLst>
          </p:cNvPr>
          <p:cNvSpPr txBox="1"/>
          <p:nvPr/>
        </p:nvSpPr>
        <p:spPr>
          <a:xfrm>
            <a:off x="762000" y="5537200"/>
            <a:ext cx="482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INTEGRANTES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E0E3E53-2115-4BB3-9DCC-A2E546E1604C}"/>
              </a:ext>
            </a:extLst>
          </p:cNvPr>
          <p:cNvSpPr txBox="1"/>
          <p:nvPr/>
        </p:nvSpPr>
        <p:spPr>
          <a:xfrm>
            <a:off x="762000" y="5740400"/>
            <a:ext cx="685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Arroyo Gamarra, Favio Enrique  ·  u202220834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C8CE358-B3EF-48BF-9344-0F387930E157}"/>
              </a:ext>
            </a:extLst>
          </p:cNvPr>
          <p:cNvSpPr txBox="1"/>
          <p:nvPr/>
        </p:nvSpPr>
        <p:spPr>
          <a:xfrm>
            <a:off x="762000" y="5969000"/>
            <a:ext cx="685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Melgar Puertas, José Guillermo  ·  u202111660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A380B0D-D97A-4855-A353-F60A67A33079}"/>
              </a:ext>
            </a:extLst>
          </p:cNvPr>
          <p:cNvSpPr txBox="1"/>
          <p:nvPr/>
        </p:nvSpPr>
        <p:spPr>
          <a:xfrm>
            <a:off x="762000" y="6197600"/>
            <a:ext cx="685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Reyna Alvarado, Gabriel Alonso  ·  u202126097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33B8EE6-DBF9-4D22-B0F2-FDEB6E7C0A2B}"/>
              </a:ext>
            </a:extLst>
          </p:cNvPr>
          <p:cNvSpPr txBox="1"/>
          <p:nvPr/>
        </p:nvSpPr>
        <p:spPr>
          <a:xfrm>
            <a:off x="7874000" y="5537200"/>
            <a:ext cx="355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PROFESOR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E3FCF09-81CB-4F68-86CD-8B9C0966E5BB}"/>
              </a:ext>
            </a:extLst>
          </p:cNvPr>
          <p:cNvSpPr txBox="1"/>
          <p:nvPr/>
        </p:nvSpPr>
        <p:spPr>
          <a:xfrm>
            <a:off x="7874000" y="57404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Carlos Adrián Alarcón Delgado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0821661-9D31-4463-BD43-00374E24B9EA}"/>
              </a:ext>
            </a:extLst>
          </p:cNvPr>
          <p:cNvSpPr txBox="1"/>
          <p:nvPr/>
        </p:nvSpPr>
        <p:spPr>
          <a:xfrm>
            <a:off x="7874000" y="6197600"/>
            <a:ext cx="355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i="1">
                <a:solidFill>
                  <a:srgbClr val="6B7A99"/>
                </a:solidFill>
              </a:rPr>
              <a:t>Lima · Abril 2026</a:t>
            </a:r>
          </a:p>
        </p:txBody>
      </p:sp>
    </p:spTree>
    <p:extLst>
      <p:ext uri="{BB962C8B-B14F-4D97-AF65-F5344CB8AC3E}">
        <p14:creationId xmlns:p14="http://schemas.microsoft.com/office/powerpoint/2010/main" val="117948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A0EA57-902F-4862-B02A-B32894E23B53}"/>
              </a:ext>
            </a:extLst>
          </p:cNvPr>
          <p:cNvSpPr txBox="1"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01 · CONTEXTO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9D88BF9-CF8E-496E-B9DC-2EAAAE8DBF46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3200" b="1">
                <a:solidFill>
                  <a:srgbClr val="FFFFFF"/>
                </a:solidFill>
                <a:latin typeface="Aptos Display"/>
              </a:rPr>
              <a:t>Ficha del proyecto y pregunta analítica</a:t>
            </a:r>
            <a:endParaRPr lang="es-UY" sz="32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7851D1-9649-4778-B684-8C8A1FB9EE0E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ED633F-233C-4796-92B1-C6CF64199CD3}"/>
              </a:ext>
            </a:extLst>
          </p:cNvPr>
          <p:cNvSpPr txBox="1"/>
          <p:nvPr/>
        </p:nvSpPr>
        <p:spPr>
          <a:xfrm>
            <a:off x="762000" y="19685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00E5A0"/>
                </a:solidFill>
              </a:rPr>
              <a:t>FICHA DEL PROYECTO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A907D6-3260-4B8E-9D23-A38B6786D8BF}"/>
              </a:ext>
            </a:extLst>
          </p:cNvPr>
          <p:cNvSpPr txBox="1"/>
          <p:nvPr/>
        </p:nvSpPr>
        <p:spPr>
          <a:xfrm>
            <a:off x="762000" y="23241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AAB6CC"/>
                </a:solidFill>
              </a:rPr>
              <a:t>TEMA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2ACA77-81EC-40AE-B6CD-9A1FF3581A08}"/>
              </a:ext>
            </a:extLst>
          </p:cNvPr>
          <p:cNvSpPr txBox="1"/>
          <p:nvPr/>
        </p:nvSpPr>
        <p:spPr>
          <a:xfrm>
            <a:off x="2260600" y="22987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l-PL" sz="1400">
                <a:solidFill>
                  <a:srgbClr val="E8EEF7"/>
                </a:solidFill>
              </a:rPr>
              <a:t>1ACC0211 · NRC 18519 · UPC 2026-I</a:t>
            </a:r>
            <a:endParaRPr lang="es-UY" sz="1400">
              <a:solidFill>
                <a:srgbClr val="E8EEF7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EC1BFE-3498-45CA-9564-CC29A90F4A82}"/>
              </a:ext>
            </a:extLst>
          </p:cNvPr>
          <p:cNvSpPr txBox="1"/>
          <p:nvPr/>
        </p:nvSpPr>
        <p:spPr>
          <a:xfrm>
            <a:off x="762000" y="26797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AAB6CC"/>
                </a:solidFill>
              </a:rPr>
              <a:t>CURSO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6926DCE-853A-4E15-B0A0-FE5F7CD11655}"/>
              </a:ext>
            </a:extLst>
          </p:cNvPr>
          <p:cNvSpPr txBox="1"/>
          <p:nvPr/>
        </p:nvSpPr>
        <p:spPr>
          <a:xfrm>
            <a:off x="2260600" y="26543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400">
                <a:solidFill>
                  <a:srgbClr val="E8EEF7"/>
                </a:solidFill>
              </a:rPr>
              <a:t>Data Visualization — UPC 2026-I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B7F9D0-C449-437E-A7FD-3E283574FF59}"/>
              </a:ext>
            </a:extLst>
          </p:cNvPr>
          <p:cNvSpPr txBox="1"/>
          <p:nvPr/>
        </p:nvSpPr>
        <p:spPr>
          <a:xfrm>
            <a:off x="762000" y="30353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AAB6CC"/>
                </a:solidFill>
              </a:rPr>
              <a:t>HERRAMIENTAS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D15EB19-0F1B-4E1C-ADE5-F8ED9C4FB711}"/>
              </a:ext>
            </a:extLst>
          </p:cNvPr>
          <p:cNvSpPr txBox="1"/>
          <p:nvPr/>
        </p:nvSpPr>
        <p:spPr>
          <a:xfrm>
            <a:off x="2260600" y="30099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400">
                <a:solidFill>
                  <a:srgbClr val="E8EEF7"/>
                </a:solidFill>
              </a:rPr>
              <a:t>Tableau · Python (Polars/Pandas)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1E23B0E-4D50-4C4B-9DB4-A5F38116D2E0}"/>
              </a:ext>
            </a:extLst>
          </p:cNvPr>
          <p:cNvSpPr txBox="1"/>
          <p:nvPr/>
        </p:nvSpPr>
        <p:spPr>
          <a:xfrm>
            <a:off x="762000" y="33909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AAB6CC"/>
                </a:solidFill>
              </a:rPr>
              <a:t>FUENTES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2C0A22F-D7C2-4045-8F79-13AB40D272D0}"/>
              </a:ext>
            </a:extLst>
          </p:cNvPr>
          <p:cNvSpPr txBox="1"/>
          <p:nvPr/>
        </p:nvSpPr>
        <p:spPr>
          <a:xfrm>
            <a:off x="2260600" y="3365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400">
                <a:solidFill>
                  <a:srgbClr val="E8EEF7"/>
                </a:solidFill>
              </a:rPr>
              <a:t>USDA FoodData Central · Instacart · FoodKeeper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D648E92-A1C7-46B2-BB15-968AB7BF74E8}"/>
              </a:ext>
            </a:extLst>
          </p:cNvPr>
          <p:cNvSpPr txBox="1"/>
          <p:nvPr/>
        </p:nvSpPr>
        <p:spPr>
          <a:xfrm>
            <a:off x="762000" y="37465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AAB6CC"/>
                </a:solidFill>
              </a:rPr>
              <a:t>DATASET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8E9D9C5-7032-436D-884B-A3576F5A6A68}"/>
              </a:ext>
            </a:extLst>
          </p:cNvPr>
          <p:cNvSpPr txBox="1"/>
          <p:nvPr/>
        </p:nvSpPr>
        <p:spPr>
          <a:xfrm>
            <a:off x="2260600" y="37211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400">
                <a:solidFill>
                  <a:srgbClr val="E8EEF7"/>
                </a:solidFill>
              </a:rPr>
              <a:t>inventory_v1.csv · 25k+ eventos · 17 cols · 10 hogares · 90 días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46D8ADF-DE13-456C-BBCC-1279F9F878BD}"/>
              </a:ext>
            </a:extLst>
          </p:cNvPr>
          <p:cNvSpPr/>
          <p:nvPr/>
        </p:nvSpPr>
        <p:spPr>
          <a:xfrm>
            <a:off x="6350000" y="1968500"/>
            <a:ext cx="5080000" cy="2921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EF8DEAC-BA6B-4051-93B7-99A8C27B29DE}"/>
              </a:ext>
            </a:extLst>
          </p:cNvPr>
          <p:cNvSpPr/>
          <p:nvPr/>
        </p:nvSpPr>
        <p:spPr>
          <a:xfrm>
            <a:off x="6350000" y="1968500"/>
            <a:ext cx="50800" cy="2921000"/>
          </a:xfrm>
          <a:prstGeom prst="rect">
            <a:avLst/>
          </a:prstGeom>
          <a:solidFill>
            <a:srgbClr val="00D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2A34FA9-E8B8-4C43-90AC-1A9A8CF8D78B}"/>
              </a:ext>
            </a:extLst>
          </p:cNvPr>
          <p:cNvSpPr txBox="1"/>
          <p:nvPr/>
        </p:nvSpPr>
        <p:spPr>
          <a:xfrm>
            <a:off x="6604000" y="21971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00D4FF"/>
                </a:solidFill>
              </a:rPr>
              <a:t>PREGUNTA ANALÍTICA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CE18370-7293-4D47-B306-B8BF20FD48BB}"/>
              </a:ext>
            </a:extLst>
          </p:cNvPr>
          <p:cNvSpPr txBox="1"/>
          <p:nvPr/>
        </p:nvSpPr>
        <p:spPr>
          <a:xfrm>
            <a:off x="6604000" y="2527300"/>
            <a:ext cx="457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500" i="1">
                <a:solidFill>
                  <a:srgbClr val="FFFFFF"/>
                </a:solidFill>
              </a:rPr>
              <a:t>¿Qué categorías de productos y ubicaciones de almacenamiento concentran el mayor riesgo de desperdicio y los peores perfiles nutricionales, y cómo varía esa concentración en el tiempo?</a:t>
            </a:r>
            <a:endParaRPr lang="es-UY" sz="1500" i="1">
              <a:solidFill>
                <a:srgbClr val="FFFFFF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C741F35-8EC9-48C5-BC19-DA628AFAAC7B}"/>
              </a:ext>
            </a:extLst>
          </p:cNvPr>
          <p:cNvSpPr txBox="1"/>
          <p:nvPr/>
        </p:nvSpPr>
        <p:spPr>
          <a:xfrm>
            <a:off x="6604000" y="4191000"/>
            <a:ext cx="457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AAB6CC"/>
                </a:solidFill>
              </a:rPr>
              <a:t>USUARIO OBJETIVO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72C543C-952C-4472-BD91-849A5C335E19}"/>
              </a:ext>
            </a:extLst>
          </p:cNvPr>
          <p:cNvSpPr txBox="1"/>
          <p:nvPr/>
        </p:nvSpPr>
        <p:spPr>
          <a:xfrm>
            <a:off x="6604000" y="4419600"/>
            <a:ext cx="457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Responsable de compras de un hogar de 2–4 personas · uso semanal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88CE877-0E2D-464E-8ABB-87A876B69099}"/>
              </a:ext>
            </a:extLst>
          </p:cNvPr>
          <p:cNvSpPr txBox="1"/>
          <p:nvPr/>
        </p:nvSpPr>
        <p:spPr>
          <a:xfrm>
            <a:off x="762000" y="52070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FFB020"/>
                </a:solidFill>
              </a:rPr>
              <a:t>4 HIPÓTESIS GUÍA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D4BAA6D-661B-4FE1-B29D-46DF391F7368}"/>
              </a:ext>
            </a:extLst>
          </p:cNvPr>
          <p:cNvSpPr/>
          <p:nvPr/>
        </p:nvSpPr>
        <p:spPr>
          <a:xfrm>
            <a:off x="762000" y="5486400"/>
            <a:ext cx="2540000" cy="4064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37AF989-B526-4C1A-9909-EC4433C4611E}"/>
              </a:ext>
            </a:extLst>
          </p:cNvPr>
          <p:cNvSpPr/>
          <p:nvPr/>
        </p:nvSpPr>
        <p:spPr>
          <a:xfrm>
            <a:off x="762000" y="5486400"/>
            <a:ext cx="38100" cy="4064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4DB24F-CFF5-4D16-BDD0-095C116FDC67}"/>
              </a:ext>
            </a:extLst>
          </p:cNvPr>
          <p:cNvSpPr txBox="1"/>
          <p:nvPr/>
        </p:nvSpPr>
        <p:spPr>
          <a:xfrm>
            <a:off x="939800" y="5486400"/>
            <a:ext cx="2362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Dominio Nutriscore D–E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8D41A59-A3A8-4E18-9DE6-976E58BE8D71}"/>
              </a:ext>
            </a:extLst>
          </p:cNvPr>
          <p:cNvSpPr/>
          <p:nvPr/>
        </p:nvSpPr>
        <p:spPr>
          <a:xfrm>
            <a:off x="3429000" y="5486400"/>
            <a:ext cx="2540000" cy="4064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8C262E9-BDE4-4C5A-BAE1-5ADB614B71F2}"/>
              </a:ext>
            </a:extLst>
          </p:cNvPr>
          <p:cNvSpPr/>
          <p:nvPr/>
        </p:nvSpPr>
        <p:spPr>
          <a:xfrm>
            <a:off x="3429000" y="5486400"/>
            <a:ext cx="38100" cy="4064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BB16680-76ED-46AF-9366-8A6FB5C110B9}"/>
              </a:ext>
            </a:extLst>
          </p:cNvPr>
          <p:cNvSpPr txBox="1"/>
          <p:nvPr/>
        </p:nvSpPr>
        <p:spPr>
          <a:xfrm>
            <a:off x="3606800" y="5486400"/>
            <a:ext cx="2362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Pérdida econ. en Despensa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17E49D3-84B9-4861-BEE9-CA60A4046814}"/>
              </a:ext>
            </a:extLst>
          </p:cNvPr>
          <p:cNvSpPr/>
          <p:nvPr/>
        </p:nvSpPr>
        <p:spPr>
          <a:xfrm>
            <a:off x="6096000" y="5486400"/>
            <a:ext cx="2540000" cy="4064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B5A5CAB-5F71-447A-BBB4-8D8ED3AA10F1}"/>
              </a:ext>
            </a:extLst>
          </p:cNvPr>
          <p:cNvSpPr/>
          <p:nvPr/>
        </p:nvSpPr>
        <p:spPr>
          <a:xfrm>
            <a:off x="6096000" y="5486400"/>
            <a:ext cx="38100" cy="4064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918AE46-2975-4A79-933D-AD93C0A29E0D}"/>
              </a:ext>
            </a:extLst>
          </p:cNvPr>
          <p:cNvSpPr txBox="1"/>
          <p:nvPr/>
        </p:nvSpPr>
        <p:spPr>
          <a:xfrm>
            <a:off x="6273800" y="5486400"/>
            <a:ext cx="2362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Estacionalidad semanal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055C2F4-B27B-4B51-BB50-75FB5A2A26BA}"/>
              </a:ext>
            </a:extLst>
          </p:cNvPr>
          <p:cNvSpPr/>
          <p:nvPr/>
        </p:nvSpPr>
        <p:spPr>
          <a:xfrm>
            <a:off x="8763000" y="5486400"/>
            <a:ext cx="2540000" cy="4064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CE5A280-EC2B-4682-8C59-7E2BAC4F7970}"/>
              </a:ext>
            </a:extLst>
          </p:cNvPr>
          <p:cNvSpPr/>
          <p:nvPr/>
        </p:nvSpPr>
        <p:spPr>
          <a:xfrm>
            <a:off x="8763000" y="5486400"/>
            <a:ext cx="38100" cy="4064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1CD9E2C-11C7-4D92-981E-817B68BD18CD}"/>
              </a:ext>
            </a:extLst>
          </p:cNvPr>
          <p:cNvSpPr txBox="1"/>
          <p:nvPr/>
        </p:nvSpPr>
        <p:spPr>
          <a:xfrm>
            <a:off x="8940800" y="5486400"/>
            <a:ext cx="2362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Clusters por PCA</a:t>
            </a:r>
          </a:p>
        </p:txBody>
      </p:sp>
    </p:spTree>
    <p:extLst>
      <p:ext uri="{BB962C8B-B14F-4D97-AF65-F5344CB8AC3E}">
        <p14:creationId xmlns:p14="http://schemas.microsoft.com/office/powerpoint/2010/main" val="352421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1BD8A0F-4C5B-4670-B3F7-6A9E16EA7014}"/>
              </a:ext>
            </a:extLst>
          </p:cNvPr>
          <p:cNvSpPr txBox="1"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02 · UNIDAD DE ANÁLISIS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910849-E702-4A4B-A0D2-60CE5C867525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3200" b="1">
                <a:solidFill>
                  <a:srgbClr val="FFFFFF"/>
                </a:solidFill>
                <a:latin typeface="Aptos Display"/>
              </a:rPr>
              <a:t>Granularidad y volumen del dataset</a:t>
            </a:r>
            <a:endParaRPr lang="es-UY" sz="32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33A96E-D790-473D-970F-0A8038A4878E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D0E266-5262-4D37-8A0D-0F8570207DA1}"/>
              </a:ext>
            </a:extLst>
          </p:cNvPr>
          <p:cNvSpPr/>
          <p:nvPr/>
        </p:nvSpPr>
        <p:spPr>
          <a:xfrm>
            <a:off x="762000" y="1968500"/>
            <a:ext cx="10668000" cy="762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BD7B502-8661-4181-BF14-4509685F61AD}"/>
              </a:ext>
            </a:extLst>
          </p:cNvPr>
          <p:cNvSpPr/>
          <p:nvPr/>
        </p:nvSpPr>
        <p:spPr>
          <a:xfrm>
            <a:off x="762000" y="1968500"/>
            <a:ext cx="50800" cy="7620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E4D103-52D3-4413-848E-0B662AB3A39D}"/>
              </a:ext>
            </a:extLst>
          </p:cNvPr>
          <p:cNvSpPr txBox="1"/>
          <p:nvPr/>
        </p:nvSpPr>
        <p:spPr>
          <a:xfrm>
            <a:off x="1016000" y="20955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b="1">
                <a:solidFill>
                  <a:srgbClr val="FFFFFF"/>
                </a:solidFill>
              </a:rPr>
              <a:t>1 fila = 1 evento de movimiento (IN / OUT) en la cocina</a:t>
            </a:r>
            <a:endParaRPr lang="es-UY" b="1">
              <a:solidFill>
                <a:srgbClr val="FFFFFF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166EBB-75D3-41F3-9F3F-6FECE7BF5DF1}"/>
              </a:ext>
            </a:extLst>
          </p:cNvPr>
          <p:cNvSpPr txBox="1"/>
          <p:nvPr/>
        </p:nvSpPr>
        <p:spPr>
          <a:xfrm>
            <a:off x="1016000" y="2387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300" i="1">
                <a:solidFill>
                  <a:srgbClr val="AAB6CC"/>
                </a:solidFill>
              </a:rPr>
              <a:t>Identificado por código de barras · ubicación · timestamp con resolución de microsegundos</a:t>
            </a:r>
            <a:endParaRPr lang="es-UY" sz="1300" i="1">
              <a:solidFill>
                <a:srgbClr val="AAB6CC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4454544-EEAF-4A91-9374-464742D79C7D}"/>
              </a:ext>
            </a:extLst>
          </p:cNvPr>
          <p:cNvSpPr/>
          <p:nvPr/>
        </p:nvSpPr>
        <p:spPr>
          <a:xfrm>
            <a:off x="762000" y="3048000"/>
            <a:ext cx="3302000" cy="27940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B0462A2-AF44-48AA-959D-1B9DD722B4C7}"/>
              </a:ext>
            </a:extLst>
          </p:cNvPr>
          <p:cNvSpPr/>
          <p:nvPr/>
        </p:nvSpPr>
        <p:spPr>
          <a:xfrm>
            <a:off x="762000" y="3048000"/>
            <a:ext cx="3302000" cy="50800"/>
          </a:xfrm>
          <a:prstGeom prst="rect">
            <a:avLst/>
          </a:prstGeom>
          <a:solidFill>
            <a:srgbClr val="00D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9921C5-EB6E-4AA5-9945-48BEE8B4848C}"/>
              </a:ext>
            </a:extLst>
          </p:cNvPr>
          <p:cNvSpPr txBox="1"/>
          <p:nvPr/>
        </p:nvSpPr>
        <p:spPr>
          <a:xfrm>
            <a:off x="965200" y="3251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500" b="1">
                <a:solidFill>
                  <a:srgbClr val="FFFFFF"/>
                </a:solidFill>
                <a:latin typeface="Aptos"/>
              </a:rPr>
              <a:t>catalog_raw.csv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0EA132-50AF-4F72-A965-12CC162F3A33}"/>
              </a:ext>
            </a:extLst>
          </p:cNvPr>
          <p:cNvSpPr txBox="1"/>
          <p:nvPr/>
        </p:nvSpPr>
        <p:spPr>
          <a:xfrm>
            <a:off x="965200" y="3556000"/>
            <a:ext cx="292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00D4FF"/>
                </a:solidFill>
              </a:rPr>
              <a:t>DIMENSIÓN ESTÁTICA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9CD148-F6E0-4342-B858-92895EE01AD1}"/>
              </a:ext>
            </a:extLst>
          </p:cNvPr>
          <p:cNvSpPr txBox="1"/>
          <p:nvPr/>
        </p:nvSpPr>
        <p:spPr>
          <a:xfrm>
            <a:off x="965200" y="39370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40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7392AC-6D51-454D-98C9-38699CA2082D}"/>
              </a:ext>
            </a:extLst>
          </p:cNvPr>
          <p:cNvSpPr txBox="1"/>
          <p:nvPr/>
        </p:nvSpPr>
        <p:spPr>
          <a:xfrm>
            <a:off x="965200" y="45974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AAB6CC"/>
                </a:solidFill>
              </a:rPr>
              <a:t>productos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1A64ABE-EFB1-4EBA-9312-CFCD2F41335C}"/>
              </a:ext>
            </a:extLst>
          </p:cNvPr>
          <p:cNvSpPr txBox="1"/>
          <p:nvPr/>
        </p:nvSpPr>
        <p:spPr>
          <a:xfrm>
            <a:off x="965200" y="49784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6B7A99"/>
                </a:solidFill>
              </a:rPr>
              <a:t>COLUMNAS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682A78C-F8CD-4FA6-905F-9517660D2013}"/>
              </a:ext>
            </a:extLst>
          </p:cNvPr>
          <p:cNvSpPr txBox="1"/>
          <p:nvPr/>
        </p:nvSpPr>
        <p:spPr>
          <a:xfrm>
            <a:off x="965200" y="5181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E8EEF7"/>
                </a:solidFill>
              </a:rPr>
              <a:t>7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986127A-0D70-4023-8D91-ADEDF04D0922}"/>
              </a:ext>
            </a:extLst>
          </p:cNvPr>
          <p:cNvSpPr txBox="1"/>
          <p:nvPr/>
        </p:nvSpPr>
        <p:spPr>
          <a:xfrm>
            <a:off x="2413000" y="4978400"/>
            <a:ext cx="1397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6B7A99"/>
                </a:solidFill>
              </a:rPr>
              <a:t>COBERTURA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6AB1FD8-C068-402B-8B2F-D598F06B056E}"/>
              </a:ext>
            </a:extLst>
          </p:cNvPr>
          <p:cNvSpPr txBox="1"/>
          <p:nvPr/>
        </p:nvSpPr>
        <p:spPr>
          <a:xfrm>
            <a:off x="2413000" y="51816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E8EEF7"/>
                </a:solidFill>
              </a:rPr>
              <a:t>N/A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2FE7554-5CCE-452D-BFDB-962FC36B4C66}"/>
              </a:ext>
            </a:extLst>
          </p:cNvPr>
          <p:cNvSpPr/>
          <p:nvPr/>
        </p:nvSpPr>
        <p:spPr>
          <a:xfrm>
            <a:off x="4318000" y="3048000"/>
            <a:ext cx="3302000" cy="27940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B232239-3CE0-4B83-BB05-1D9A57447488}"/>
              </a:ext>
            </a:extLst>
          </p:cNvPr>
          <p:cNvSpPr/>
          <p:nvPr/>
        </p:nvSpPr>
        <p:spPr>
          <a:xfrm>
            <a:off x="4318000" y="3048000"/>
            <a:ext cx="3302000" cy="508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18C792E-10D1-4261-809C-20179F15366E}"/>
              </a:ext>
            </a:extLst>
          </p:cNvPr>
          <p:cNvSpPr txBox="1"/>
          <p:nvPr/>
        </p:nvSpPr>
        <p:spPr>
          <a:xfrm>
            <a:off x="4521200" y="3251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500" b="1">
                <a:solidFill>
                  <a:srgbClr val="FFFFFF"/>
                </a:solidFill>
                <a:latin typeface="Aptos"/>
              </a:rPr>
              <a:t>movements_raw.csv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32D94C3-3275-4489-8144-5B67FF5148C2}"/>
              </a:ext>
            </a:extLst>
          </p:cNvPr>
          <p:cNvSpPr txBox="1"/>
          <p:nvPr/>
        </p:nvSpPr>
        <p:spPr>
          <a:xfrm>
            <a:off x="4521200" y="3556000"/>
            <a:ext cx="292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FFB020"/>
                </a:solidFill>
              </a:rPr>
              <a:t>TABLA DE HECHOS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2522AFE-935E-49E0-9CE2-6E3F17D95D50}"/>
              </a:ext>
            </a:extLst>
          </p:cNvPr>
          <p:cNvSpPr txBox="1"/>
          <p:nvPr/>
        </p:nvSpPr>
        <p:spPr>
          <a:xfrm>
            <a:off x="4521200" y="39370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4000" b="1">
                <a:solidFill>
                  <a:srgbClr val="FFFFFF"/>
                </a:solidFill>
              </a:rPr>
              <a:t>25,819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48D7C3-315F-4377-88F2-79D8F67CBD03}"/>
              </a:ext>
            </a:extLst>
          </p:cNvPr>
          <p:cNvSpPr txBox="1"/>
          <p:nvPr/>
        </p:nvSpPr>
        <p:spPr>
          <a:xfrm>
            <a:off x="4521200" y="45974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AAB6CC"/>
                </a:solidFill>
              </a:rPr>
              <a:t>eventos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4967696-4E31-4123-BFE6-DE6CC0657F1F}"/>
              </a:ext>
            </a:extLst>
          </p:cNvPr>
          <p:cNvSpPr txBox="1"/>
          <p:nvPr/>
        </p:nvSpPr>
        <p:spPr>
          <a:xfrm>
            <a:off x="4521200" y="49784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6B7A99"/>
                </a:solidFill>
              </a:rPr>
              <a:t>COLUMNAS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ECE7FC2-16D1-4DF1-9429-AF18509520AD}"/>
              </a:ext>
            </a:extLst>
          </p:cNvPr>
          <p:cNvSpPr txBox="1"/>
          <p:nvPr/>
        </p:nvSpPr>
        <p:spPr>
          <a:xfrm>
            <a:off x="4521200" y="5181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E8EEF7"/>
                </a:solidFill>
              </a:rPr>
              <a:t>10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E87F0C9-86EF-4933-8676-F9EF55E0023B}"/>
              </a:ext>
            </a:extLst>
          </p:cNvPr>
          <p:cNvSpPr txBox="1"/>
          <p:nvPr/>
        </p:nvSpPr>
        <p:spPr>
          <a:xfrm>
            <a:off x="5969000" y="4978400"/>
            <a:ext cx="1397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6B7A99"/>
                </a:solidFill>
              </a:rPr>
              <a:t>COBERTURA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1280C1B-AD39-4475-B240-C89837CB49BE}"/>
              </a:ext>
            </a:extLst>
          </p:cNvPr>
          <p:cNvSpPr txBox="1"/>
          <p:nvPr/>
        </p:nvSpPr>
        <p:spPr>
          <a:xfrm>
            <a:off x="5969000" y="51816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E8EEF7"/>
                </a:solidFill>
              </a:rPr>
              <a:t>90 días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60748AC-1AC7-4283-B90E-8407335B9D13}"/>
              </a:ext>
            </a:extLst>
          </p:cNvPr>
          <p:cNvSpPr/>
          <p:nvPr/>
        </p:nvSpPr>
        <p:spPr>
          <a:xfrm>
            <a:off x="7874000" y="3048000"/>
            <a:ext cx="3302000" cy="27940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7FF86EB-097A-466E-B427-32E9E1B7A4F8}"/>
              </a:ext>
            </a:extLst>
          </p:cNvPr>
          <p:cNvSpPr/>
          <p:nvPr/>
        </p:nvSpPr>
        <p:spPr>
          <a:xfrm>
            <a:off x="7874000" y="3048000"/>
            <a:ext cx="3302000" cy="508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F9E2B24-DE4C-43AD-A398-87B51FC1A146}"/>
              </a:ext>
            </a:extLst>
          </p:cNvPr>
          <p:cNvSpPr txBox="1"/>
          <p:nvPr/>
        </p:nvSpPr>
        <p:spPr>
          <a:xfrm>
            <a:off x="8077200" y="32512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500" b="1">
                <a:solidFill>
                  <a:srgbClr val="FFFFFF"/>
                </a:solidFill>
                <a:latin typeface="Aptos"/>
              </a:rPr>
              <a:t>inventory_v1.csv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CB710C2-C146-4DFC-8CC5-0DC0C2FB8040}"/>
              </a:ext>
            </a:extLst>
          </p:cNvPr>
          <p:cNvSpPr txBox="1"/>
          <p:nvPr/>
        </p:nvSpPr>
        <p:spPr>
          <a:xfrm>
            <a:off x="8077200" y="3556000"/>
            <a:ext cx="292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00E5A0"/>
                </a:solidFill>
              </a:rPr>
              <a:t>POST-JOIN + LIMPIEZA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3021ECD-B267-4697-A1C8-7808757E2724}"/>
              </a:ext>
            </a:extLst>
          </p:cNvPr>
          <p:cNvSpPr txBox="1"/>
          <p:nvPr/>
        </p:nvSpPr>
        <p:spPr>
          <a:xfrm>
            <a:off x="8077200" y="39370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4000" b="1">
                <a:solidFill>
                  <a:srgbClr val="FFFFFF"/>
                </a:solidFill>
              </a:rPr>
              <a:t>25,819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FBFFFFD-1A59-474E-8E38-0D39EEFF6647}"/>
              </a:ext>
            </a:extLst>
          </p:cNvPr>
          <p:cNvSpPr txBox="1"/>
          <p:nvPr/>
        </p:nvSpPr>
        <p:spPr>
          <a:xfrm>
            <a:off x="8077200" y="45974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AAB6CC"/>
                </a:solidFill>
              </a:rPr>
              <a:t>eventos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E35A1AB-DF95-4847-B7C4-E244041D237F}"/>
              </a:ext>
            </a:extLst>
          </p:cNvPr>
          <p:cNvSpPr txBox="1"/>
          <p:nvPr/>
        </p:nvSpPr>
        <p:spPr>
          <a:xfrm>
            <a:off x="8077200" y="49784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6B7A99"/>
                </a:solidFill>
              </a:rPr>
              <a:t>COLUMNAS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F032CE3-4E12-4D36-86F7-797507398D13}"/>
              </a:ext>
            </a:extLst>
          </p:cNvPr>
          <p:cNvSpPr txBox="1"/>
          <p:nvPr/>
        </p:nvSpPr>
        <p:spPr>
          <a:xfrm>
            <a:off x="8077200" y="51816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E8EEF7"/>
                </a:solidFill>
              </a:rPr>
              <a:t>17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50827FB-EAB0-4525-978C-BE6AD28D3929}"/>
              </a:ext>
            </a:extLst>
          </p:cNvPr>
          <p:cNvSpPr txBox="1"/>
          <p:nvPr/>
        </p:nvSpPr>
        <p:spPr>
          <a:xfrm>
            <a:off x="9525000" y="4978400"/>
            <a:ext cx="1397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6B7A99"/>
                </a:solidFill>
              </a:rPr>
              <a:t>COBERTURA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0825E93-41FA-4D23-B975-CAA28D0B9EB6}"/>
              </a:ext>
            </a:extLst>
          </p:cNvPr>
          <p:cNvSpPr txBox="1"/>
          <p:nvPr/>
        </p:nvSpPr>
        <p:spPr>
          <a:xfrm>
            <a:off x="9525000" y="51816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E8EEF7"/>
                </a:solidFill>
              </a:rPr>
              <a:t>90 días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764315F-FE41-4A20-9854-4F733A92B021}"/>
              </a:ext>
            </a:extLst>
          </p:cNvPr>
          <p:cNvSpPr txBox="1"/>
          <p:nvPr/>
        </p:nvSpPr>
        <p:spPr>
          <a:xfrm>
            <a:off x="762000" y="6070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i="1">
                <a:solidFill>
                  <a:srgbClr val="AAB6CC"/>
                </a:solidFill>
              </a:rPr>
              <a:t>Integración por product_id · Left join movements ← catalog · Cobertura temporal: 01-feb-2026 a 01-may-2026 · 10 hogares</a:t>
            </a:r>
          </a:p>
        </p:txBody>
      </p:sp>
    </p:spTree>
    <p:extLst>
      <p:ext uri="{BB962C8B-B14F-4D97-AF65-F5344CB8AC3E}">
        <p14:creationId xmlns:p14="http://schemas.microsoft.com/office/powerpoint/2010/main" val="94814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C327B1-96D0-4306-A3E7-57765007BC07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03 · PERFILADO POR COLUMNA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7BF375-FA72-47FE-B70D-1CD15CA7093D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200" b="1">
                <a:solidFill>
                  <a:srgbClr val="FFFFFF"/>
                </a:solidFill>
                <a:latin typeface="Aptos Display"/>
              </a:rPr>
              <a:t>Highlights del perfilado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1A51F2-E9E8-4CD9-A70C-49ACA92124A8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493887-CB15-42A1-8B08-1A3D1D0F0C36}"/>
              </a:ext>
            </a:extLst>
          </p:cNvPr>
          <p:cNvSpPr/>
          <p:nvPr/>
        </p:nvSpPr>
        <p:spPr>
          <a:xfrm>
            <a:off x="762000" y="1968500"/>
            <a:ext cx="5207000" cy="3873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66642CD-0C63-402D-B66F-6EE7AA33DB65}"/>
              </a:ext>
            </a:extLst>
          </p:cNvPr>
          <p:cNvSpPr/>
          <p:nvPr/>
        </p:nvSpPr>
        <p:spPr>
          <a:xfrm>
            <a:off x="762000" y="1968500"/>
            <a:ext cx="50800" cy="3873500"/>
          </a:xfrm>
          <a:prstGeom prst="rect">
            <a:avLst/>
          </a:prstGeom>
          <a:solidFill>
            <a:srgbClr val="00D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8401C00-7B85-4328-82FF-4E16ED5A86FE}"/>
              </a:ext>
            </a:extLst>
          </p:cNvPr>
          <p:cNvSpPr txBox="1"/>
          <p:nvPr/>
        </p:nvSpPr>
        <p:spPr>
          <a:xfrm>
            <a:off x="1016000" y="21717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FFFFFF"/>
                </a:solidFill>
              </a:rPr>
              <a:t>catalog_raw.csv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4ACF845-D771-408B-893B-C9A6E8399DC5}"/>
              </a:ext>
            </a:extLst>
          </p:cNvPr>
          <p:cNvSpPr txBox="1"/>
          <p:nvPr/>
        </p:nvSpPr>
        <p:spPr>
          <a:xfrm>
            <a:off x="1016000" y="24765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000" b="1">
                <a:solidFill>
                  <a:srgbClr val="00D4FF"/>
                </a:solidFill>
              </a:rPr>
              <a:t>50 PRODUCTOS · 7 COLUMNAS · 0 NULOS</a:t>
            </a:r>
            <a:endParaRPr lang="es-UY" sz="1000" b="1">
              <a:solidFill>
                <a:srgbClr val="00D4FF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C2F326-3A70-4E90-84E5-574B36936FAF}"/>
              </a:ext>
            </a:extLst>
          </p:cNvPr>
          <p:cNvSpPr txBox="1"/>
          <p:nvPr/>
        </p:nvSpPr>
        <p:spPr>
          <a:xfrm>
            <a:off x="1016000" y="2857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product_id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6D152D-705C-4D9D-8EAE-F3B9EA41600A}"/>
              </a:ext>
            </a:extLst>
          </p:cNvPr>
          <p:cNvSpPr txBox="1"/>
          <p:nvPr/>
        </p:nvSpPr>
        <p:spPr>
          <a:xfrm>
            <a:off x="2667000" y="2857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int64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2CDED5A-E1AA-4A14-9392-D836FDB25DD5}"/>
              </a:ext>
            </a:extLst>
          </p:cNvPr>
          <p:cNvSpPr txBox="1"/>
          <p:nvPr/>
        </p:nvSpPr>
        <p:spPr>
          <a:xfrm>
            <a:off x="3429000" y="2857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PK · 50 únicos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4FB3C8-8FC8-4D8E-8E49-0430868F9FE5}"/>
              </a:ext>
            </a:extLst>
          </p:cNvPr>
          <p:cNvSpPr txBox="1"/>
          <p:nvPr/>
        </p:nvSpPr>
        <p:spPr>
          <a:xfrm>
            <a:off x="1016000" y="3238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product_name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0818F3A-A061-4105-91A8-E609616C7CAC}"/>
              </a:ext>
            </a:extLst>
          </p:cNvPr>
          <p:cNvSpPr txBox="1"/>
          <p:nvPr/>
        </p:nvSpPr>
        <p:spPr>
          <a:xfrm>
            <a:off x="2667000" y="3238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string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36DF0E-8EEC-4A7C-BFE2-8C9F888842E2}"/>
              </a:ext>
            </a:extLst>
          </p:cNvPr>
          <p:cNvSpPr txBox="1"/>
          <p:nvPr/>
        </p:nvSpPr>
        <p:spPr>
          <a:xfrm>
            <a:off x="3429000" y="3238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47 distintos · 3 repetidos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6E495F9-567A-4D3D-8BBE-66B16549A8EB}"/>
              </a:ext>
            </a:extLst>
          </p:cNvPr>
          <p:cNvSpPr txBox="1"/>
          <p:nvPr/>
        </p:nvSpPr>
        <p:spPr>
          <a:xfrm>
            <a:off x="1016000" y="3619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category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F53C1BA-B4CE-479C-96DA-9780767267DD}"/>
              </a:ext>
            </a:extLst>
          </p:cNvPr>
          <p:cNvSpPr txBox="1"/>
          <p:nvPr/>
        </p:nvSpPr>
        <p:spPr>
          <a:xfrm>
            <a:off x="2667000" y="3619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string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22DF56-D8F9-4C6F-9C1D-FB43E40A6123}"/>
              </a:ext>
            </a:extLst>
          </p:cNvPr>
          <p:cNvSpPr txBox="1"/>
          <p:nvPr/>
        </p:nvSpPr>
        <p:spPr>
          <a:xfrm>
            <a:off x="3429000" y="3619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6 dept_ids · numérico (Instacart)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DA4B4E8-7BDD-4392-AEA6-B81284E12F48}"/>
              </a:ext>
            </a:extLst>
          </p:cNvPr>
          <p:cNvSpPr txBox="1"/>
          <p:nvPr/>
        </p:nvSpPr>
        <p:spPr>
          <a:xfrm>
            <a:off x="1016000" y="4000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nutriscore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4043726-700F-4033-86C1-8E8215B8F899}"/>
              </a:ext>
            </a:extLst>
          </p:cNvPr>
          <p:cNvSpPr txBox="1"/>
          <p:nvPr/>
        </p:nvSpPr>
        <p:spPr>
          <a:xfrm>
            <a:off x="2667000" y="4000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char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CDA3FC-2A73-40DA-B815-3956579FA712}"/>
              </a:ext>
            </a:extLst>
          </p:cNvPr>
          <p:cNvSpPr txBox="1"/>
          <p:nvPr/>
        </p:nvSpPr>
        <p:spPr>
          <a:xfrm>
            <a:off x="3429000" y="4000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000">
                <a:solidFill>
                  <a:srgbClr val="AAB6CC"/>
                </a:solidFill>
              </a:rPr>
              <a:t>A=20 B=13 C=3 D=7 · 7 sin dato</a:t>
            </a:r>
            <a:endParaRPr lang="es-UY" sz="1000">
              <a:solidFill>
                <a:srgbClr val="AAB6CC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6AF1244-CAD8-4A2F-AA86-F9D619F5D3ED}"/>
              </a:ext>
            </a:extLst>
          </p:cNvPr>
          <p:cNvSpPr txBox="1"/>
          <p:nvPr/>
        </p:nvSpPr>
        <p:spPr>
          <a:xfrm>
            <a:off x="1016000" y="4381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calories_100g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DAA66A5-AD04-4FB6-BEDC-EE2DAF4F8ED0}"/>
              </a:ext>
            </a:extLst>
          </p:cNvPr>
          <p:cNvSpPr txBox="1"/>
          <p:nvPr/>
        </p:nvSpPr>
        <p:spPr>
          <a:xfrm>
            <a:off x="2667000" y="4381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float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C4F3396-EDFC-4F01-B2FF-9EA66DCC955A}"/>
              </a:ext>
            </a:extLst>
          </p:cNvPr>
          <p:cNvSpPr txBox="1"/>
          <p:nvPr/>
        </p:nvSpPr>
        <p:spPr>
          <a:xfrm>
            <a:off x="3429000" y="4381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0–892.0 · sin outlier ✓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ECDA43-7E95-4EFB-BB7E-06D60A4B7C1D}"/>
              </a:ext>
            </a:extLst>
          </p:cNvPr>
          <p:cNvSpPr txBox="1"/>
          <p:nvPr/>
        </p:nvSpPr>
        <p:spPr>
          <a:xfrm>
            <a:off x="1016000" y="4762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proteins_100g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3FD26F7-C286-4929-B74E-EFD08868421A}"/>
              </a:ext>
            </a:extLst>
          </p:cNvPr>
          <p:cNvSpPr txBox="1"/>
          <p:nvPr/>
        </p:nvSpPr>
        <p:spPr>
          <a:xfrm>
            <a:off x="2667000" y="4762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float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55016AF-D59C-4524-9D2D-6DAFE4FFE148}"/>
              </a:ext>
            </a:extLst>
          </p:cNvPr>
          <p:cNvSpPr txBox="1"/>
          <p:nvPr/>
        </p:nvSpPr>
        <p:spPr>
          <a:xfrm>
            <a:off x="3429000" y="4762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0–30.4 g · plausible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7890CD7-09E8-45EB-82D7-92299E3411EE}"/>
              </a:ext>
            </a:extLst>
          </p:cNvPr>
          <p:cNvSpPr txBox="1"/>
          <p:nvPr/>
        </p:nvSpPr>
        <p:spPr>
          <a:xfrm>
            <a:off x="1016000" y="5143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carbs_100g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6CA7397-0B59-4D3C-8A31-9FBF761BA61D}"/>
              </a:ext>
            </a:extLst>
          </p:cNvPr>
          <p:cNvSpPr txBox="1"/>
          <p:nvPr/>
        </p:nvSpPr>
        <p:spPr>
          <a:xfrm>
            <a:off x="2667000" y="5143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float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0774590-3DE6-4BB7-B219-9F0A1A57853C}"/>
              </a:ext>
            </a:extLst>
          </p:cNvPr>
          <p:cNvSpPr txBox="1"/>
          <p:nvPr/>
        </p:nvSpPr>
        <p:spPr>
          <a:xfrm>
            <a:off x="3429000" y="5143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0–84.0 g · plausible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4F7A150-08B9-4CA5-9B1E-DFBDB1EE57A9}"/>
              </a:ext>
            </a:extLst>
          </p:cNvPr>
          <p:cNvSpPr/>
          <p:nvPr/>
        </p:nvSpPr>
        <p:spPr>
          <a:xfrm>
            <a:off x="6223000" y="1968500"/>
            <a:ext cx="5207000" cy="3873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186B740-BE5E-4019-B297-410F73D83AE3}"/>
              </a:ext>
            </a:extLst>
          </p:cNvPr>
          <p:cNvSpPr/>
          <p:nvPr/>
        </p:nvSpPr>
        <p:spPr>
          <a:xfrm>
            <a:off x="6223000" y="1968500"/>
            <a:ext cx="50800" cy="38735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2F9FED4-B14B-41AC-8804-664894D56A95}"/>
              </a:ext>
            </a:extLst>
          </p:cNvPr>
          <p:cNvSpPr txBox="1"/>
          <p:nvPr/>
        </p:nvSpPr>
        <p:spPr>
          <a:xfrm>
            <a:off x="6477000" y="21717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600" b="1">
                <a:solidFill>
                  <a:srgbClr val="FFFFFF"/>
                </a:solidFill>
              </a:rPr>
              <a:t>movements_raw.csv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DAD23F9-70FC-4D78-BF7B-C3817FE708E5}"/>
              </a:ext>
            </a:extLst>
          </p:cNvPr>
          <p:cNvSpPr txBox="1"/>
          <p:nvPr/>
        </p:nvSpPr>
        <p:spPr>
          <a:xfrm>
            <a:off x="6477000" y="2476500"/>
            <a:ext cx="469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000" b="1">
                <a:solidFill>
                  <a:srgbClr val="FFB020"/>
                </a:solidFill>
              </a:rPr>
              <a:t>25,819 EVENTOS · 10 COLUMNAS · 90 DÍAS</a:t>
            </a:r>
            <a:endParaRPr lang="es-UY" sz="1000" b="1">
              <a:solidFill>
                <a:srgbClr val="FFB020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37BEDDB-99DB-467A-AA0E-6EAD685E8467}"/>
              </a:ext>
            </a:extLst>
          </p:cNvPr>
          <p:cNvSpPr txBox="1"/>
          <p:nvPr/>
        </p:nvSpPr>
        <p:spPr>
          <a:xfrm>
            <a:off x="6477000" y="2857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event_id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9D923EF-754C-4E82-95B2-A24A38A406AE}"/>
              </a:ext>
            </a:extLst>
          </p:cNvPr>
          <p:cNvSpPr txBox="1"/>
          <p:nvPr/>
        </p:nvSpPr>
        <p:spPr>
          <a:xfrm>
            <a:off x="8128000" y="2857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string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E33F688-E9B6-4DF3-8EE7-D4CB2A767902}"/>
              </a:ext>
            </a:extLst>
          </p:cNvPr>
          <p:cNvSpPr txBox="1"/>
          <p:nvPr/>
        </p:nvSpPr>
        <p:spPr>
          <a:xfrm>
            <a:off x="8890000" y="28575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PK · UUID parcial (10 chars)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7F87022-07CC-40C2-B6DC-2A6D6E53EF85}"/>
              </a:ext>
            </a:extLst>
          </p:cNvPr>
          <p:cNvSpPr txBox="1"/>
          <p:nvPr/>
        </p:nvSpPr>
        <p:spPr>
          <a:xfrm>
            <a:off x="6477000" y="3238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product_id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7D9C28B-1991-4DA6-BA6F-03483F95E292}"/>
              </a:ext>
            </a:extLst>
          </p:cNvPr>
          <p:cNvSpPr txBox="1"/>
          <p:nvPr/>
        </p:nvSpPr>
        <p:spPr>
          <a:xfrm>
            <a:off x="8128000" y="3238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int64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33A116-5E1D-4A17-928E-4D97EF75CE79}"/>
              </a:ext>
            </a:extLst>
          </p:cNvPr>
          <p:cNvSpPr txBox="1"/>
          <p:nvPr/>
        </p:nvSpPr>
        <p:spPr>
          <a:xfrm>
            <a:off x="8890000" y="32385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FK al catálogo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BBB5B9A-5E7F-4C38-9373-C9B4F361BB09}"/>
              </a:ext>
            </a:extLst>
          </p:cNvPr>
          <p:cNvSpPr txBox="1"/>
          <p:nvPr/>
        </p:nvSpPr>
        <p:spPr>
          <a:xfrm>
            <a:off x="6477000" y="3619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timestamp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4D88144-07AB-49F4-B99A-B75D7AAED975}"/>
              </a:ext>
            </a:extLst>
          </p:cNvPr>
          <p:cNvSpPr txBox="1"/>
          <p:nvPr/>
        </p:nvSpPr>
        <p:spPr>
          <a:xfrm>
            <a:off x="8128000" y="3619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datetime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D381826-54CB-48CD-8FD4-856A61A525E1}"/>
              </a:ext>
            </a:extLst>
          </p:cNvPr>
          <p:cNvSpPr txBox="1"/>
          <p:nvPr/>
        </p:nvSpPr>
        <p:spPr>
          <a:xfrm>
            <a:off x="8890000" y="36195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>
                <a:solidFill>
                  <a:srgbClr val="AAB6CC"/>
                </a:solidFill>
              </a:rPr>
              <a:t>Resolución minutos · 90 días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537F5A3-904D-45CF-922B-5D139B673901}"/>
              </a:ext>
            </a:extLst>
          </p:cNvPr>
          <p:cNvSpPr txBox="1"/>
          <p:nvPr/>
        </p:nvSpPr>
        <p:spPr>
          <a:xfrm>
            <a:off x="6477000" y="4000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event_type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C38F88A-5016-4D4E-B66E-5D0A29D6EC92}"/>
              </a:ext>
            </a:extLst>
          </p:cNvPr>
          <p:cNvSpPr txBox="1"/>
          <p:nvPr/>
        </p:nvSpPr>
        <p:spPr>
          <a:xfrm>
            <a:off x="8128000" y="4000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string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880DCDCD-A563-4BF7-B6A7-3755A1A1BAA4}"/>
              </a:ext>
            </a:extLst>
          </p:cNvPr>
          <p:cNvSpPr txBox="1"/>
          <p:nvPr/>
        </p:nvSpPr>
        <p:spPr>
          <a:xfrm>
            <a:off x="8890000" y="40005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AAB6CC"/>
                </a:solidFill>
              </a:rPr>
              <a:t>OUT 14,238 (55%) · IN 11,581</a:t>
            </a:r>
            <a:endParaRPr lang="es-UY" sz="1000">
              <a:solidFill>
                <a:srgbClr val="AAB6CC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6BC40F7-F0F3-411B-90FA-78EDF82C99E8}"/>
              </a:ext>
            </a:extLst>
          </p:cNvPr>
          <p:cNvSpPr txBox="1"/>
          <p:nvPr/>
        </p:nvSpPr>
        <p:spPr>
          <a:xfrm>
            <a:off x="6477000" y="4381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classification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B8469CF-E2E6-4180-A218-122F81042816}"/>
              </a:ext>
            </a:extLst>
          </p:cNvPr>
          <p:cNvSpPr txBox="1"/>
          <p:nvPr/>
        </p:nvSpPr>
        <p:spPr>
          <a:xfrm>
            <a:off x="8128000" y="4381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string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4B2890B-1D29-40DB-9139-F74255F5DDB3}"/>
              </a:ext>
            </a:extLst>
          </p:cNvPr>
          <p:cNvSpPr txBox="1"/>
          <p:nvPr/>
        </p:nvSpPr>
        <p:spPr>
          <a:xfrm>
            <a:off x="8890000" y="43815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000">
                <a:solidFill>
                  <a:srgbClr val="AAB6CC"/>
                </a:solidFill>
              </a:rPr>
              <a:t>Purchase 11,581 · Consumption 9,185 · Waste/F.Waste 5,053</a:t>
            </a:r>
            <a:endParaRPr lang="es-UY" sz="1000">
              <a:solidFill>
                <a:srgbClr val="AAB6CC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69F57C0-B4A4-4323-92BF-77023CFED2F3}"/>
              </a:ext>
            </a:extLst>
          </p:cNvPr>
          <p:cNvSpPr txBox="1"/>
          <p:nvPr/>
        </p:nvSpPr>
        <p:spPr>
          <a:xfrm>
            <a:off x="6477000" y="4762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b="1">
                <a:solidFill>
                  <a:srgbClr val="E8EEF7"/>
                </a:solidFill>
                <a:latin typeface="Aptos"/>
              </a:rPr>
              <a:t>expiry_date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311430C-57C5-4CE1-B3E4-719A0C26DE21}"/>
              </a:ext>
            </a:extLst>
          </p:cNvPr>
          <p:cNvSpPr txBox="1"/>
          <p:nvPr/>
        </p:nvSpPr>
        <p:spPr>
          <a:xfrm>
            <a:off x="8128000" y="4762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i="1">
                <a:solidFill>
                  <a:srgbClr val="7C5CFF"/>
                </a:solidFill>
              </a:rPr>
              <a:t>date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2D639C3-CD04-4DCE-A874-7472ADC23E20}"/>
              </a:ext>
            </a:extLst>
          </p:cNvPr>
          <p:cNvSpPr txBox="1"/>
          <p:nvPr/>
        </p:nvSpPr>
        <p:spPr>
          <a:xfrm>
            <a:off x="8890000" y="4762500"/>
            <a:ext cx="2540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000">
                <a:solidFill>
                  <a:srgbClr val="AAB6CC"/>
                </a:solidFill>
              </a:rPr>
              <a:t>0 nulos · presente en todos los eventos</a:t>
            </a:r>
            <a:endParaRPr lang="es-UY" sz="1000">
              <a:solidFill>
                <a:srgbClr val="AAB6CC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9AF01A3-A1B4-428C-8B73-4C6AF8877429}"/>
              </a:ext>
            </a:extLst>
          </p:cNvPr>
          <p:cNvSpPr txBox="1"/>
          <p:nvPr/>
        </p:nvSpPr>
        <p:spPr>
          <a:xfrm>
            <a:off x="762000" y="6096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 i="1">
                <a:solidFill>
                  <a:srgbClr val="00E5A0"/>
                </a:solidFill>
              </a:rPr>
              <a:t>→ El perfilado revela 3 frentes: category numérico · nutriscore 'Falta Dato' (7 prods) · location ausente (se deriva en P2)</a:t>
            </a:r>
            <a:endParaRPr lang="es-UY" sz="1200" i="1">
              <a:solidFill>
                <a:srgbClr val="00E5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99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3C4A4A-6CDF-4DF2-94C9-C05EC87EE462}"/>
              </a:ext>
            </a:extLst>
          </p:cNvPr>
          <p:cNvSpPr txBox="1"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04 · CALIDAD DEL DATO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96B764-83F6-4BE2-89A0-1983E3A3AD58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200" b="1">
                <a:solidFill>
                  <a:srgbClr val="FFFFFF"/>
                </a:solidFill>
                <a:latin typeface="Aptos Display"/>
              </a:rPr>
              <a:t>6 problemas de calidad detectados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AD645A-739F-410E-9EA2-98A765608313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32452C5-26E8-4665-AB68-F02E6C0D1FF3}"/>
              </a:ext>
            </a:extLst>
          </p:cNvPr>
          <p:cNvSpPr/>
          <p:nvPr/>
        </p:nvSpPr>
        <p:spPr>
          <a:xfrm>
            <a:off x="762000" y="1968500"/>
            <a:ext cx="3429000" cy="1841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BCDA7CC-1C8B-4076-A932-98EBCF68FAEF}"/>
              </a:ext>
            </a:extLst>
          </p:cNvPr>
          <p:cNvSpPr/>
          <p:nvPr/>
        </p:nvSpPr>
        <p:spPr>
          <a:xfrm>
            <a:off x="762000" y="1968500"/>
            <a:ext cx="50800" cy="18415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5E3F554-D71F-4061-8AF8-3FD534D3CB8B}"/>
              </a:ext>
            </a:extLst>
          </p:cNvPr>
          <p:cNvSpPr/>
          <p:nvPr/>
        </p:nvSpPr>
        <p:spPr>
          <a:xfrm>
            <a:off x="990600" y="2171700"/>
            <a:ext cx="482600" cy="3048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1486B92-770B-47E3-985B-027F6469AF35}"/>
              </a:ext>
            </a:extLst>
          </p:cNvPr>
          <p:cNvSpPr txBox="1"/>
          <p:nvPr/>
        </p:nvSpPr>
        <p:spPr>
          <a:xfrm>
            <a:off x="990600" y="2171700"/>
            <a:ext cx="482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B1220"/>
                </a:solidFill>
              </a:rPr>
              <a:t>P1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F9415A9-9171-4393-A6F3-DFEC64927BB3}"/>
              </a:ext>
            </a:extLst>
          </p:cNvPr>
          <p:cNvSpPr txBox="1"/>
          <p:nvPr/>
        </p:nvSpPr>
        <p:spPr>
          <a:xfrm>
            <a:off x="1600200" y="21717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Outlier numérico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0703B2-8900-45D2-99CD-B263A579E343}"/>
              </a:ext>
            </a:extLst>
          </p:cNvPr>
          <p:cNvSpPr txBox="1"/>
          <p:nvPr/>
        </p:nvSpPr>
        <p:spPr>
          <a:xfrm>
            <a:off x="990600" y="2603500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TABLA: CATALOG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B1D80B-9B01-49DA-A86F-0430B8C28055}"/>
              </a:ext>
            </a:extLst>
          </p:cNvPr>
          <p:cNvSpPr txBox="1"/>
          <p:nvPr/>
        </p:nvSpPr>
        <p:spPr>
          <a:xfrm>
            <a:off x="990600" y="2857500"/>
            <a:ext cx="2971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E8EEF7"/>
                </a:solidFill>
              </a:rPr>
              <a:t>0 outliers en nueva fuente · umbral 900 kcal activo como salvaguarda</a:t>
            </a:r>
            <a:endParaRPr lang="es-UY" sz="1100">
              <a:solidFill>
                <a:srgbClr val="E8EEF7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A930994-1408-4278-ABFF-3B0BEDE7ACD2}"/>
              </a:ext>
            </a:extLst>
          </p:cNvPr>
          <p:cNvSpPr/>
          <p:nvPr/>
        </p:nvSpPr>
        <p:spPr>
          <a:xfrm>
            <a:off x="4381500" y="1968500"/>
            <a:ext cx="3429000" cy="1841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FD9CABA-D1D1-43C3-8F62-C0901828DD6C}"/>
              </a:ext>
            </a:extLst>
          </p:cNvPr>
          <p:cNvSpPr/>
          <p:nvPr/>
        </p:nvSpPr>
        <p:spPr>
          <a:xfrm>
            <a:off x="4381500" y="1968500"/>
            <a:ext cx="50800" cy="18415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45FF81D-F983-45A6-AEA2-F887573C7531}"/>
              </a:ext>
            </a:extLst>
          </p:cNvPr>
          <p:cNvSpPr/>
          <p:nvPr/>
        </p:nvSpPr>
        <p:spPr>
          <a:xfrm>
            <a:off x="4610100" y="2171700"/>
            <a:ext cx="482600" cy="3048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9DFB6D-41F8-4F56-8B0D-41F2074BE5BD}"/>
              </a:ext>
            </a:extLst>
          </p:cNvPr>
          <p:cNvSpPr txBox="1"/>
          <p:nvPr/>
        </p:nvSpPr>
        <p:spPr>
          <a:xfrm>
            <a:off x="4610100" y="2171700"/>
            <a:ext cx="482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B1220"/>
                </a:solidFill>
              </a:rPr>
              <a:t>P2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27D173B-67FC-42D4-9CEF-E787A3FE3B83}"/>
              </a:ext>
            </a:extLst>
          </p:cNvPr>
          <p:cNvSpPr txBox="1"/>
          <p:nvPr/>
        </p:nvSpPr>
        <p:spPr>
          <a:xfrm>
            <a:off x="5219700" y="21717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Categorías numéricas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58B5FC6-60AF-491E-B400-73BEB87F748A}"/>
              </a:ext>
            </a:extLst>
          </p:cNvPr>
          <p:cNvSpPr txBox="1"/>
          <p:nvPr/>
        </p:nvSpPr>
        <p:spPr>
          <a:xfrm>
            <a:off x="4610100" y="2603500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TABLA: CATALOG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CCF576B-151D-4344-8C7C-C468DFBB2970}"/>
              </a:ext>
            </a:extLst>
          </p:cNvPr>
          <p:cNvSpPr txBox="1"/>
          <p:nvPr/>
        </p:nvSpPr>
        <p:spPr>
          <a:xfrm>
            <a:off x="4610100" y="2857500"/>
            <a:ext cx="2971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E8EEF7"/>
                </a:solidFill>
              </a:rPr>
              <a:t>6 dept_ids numéricos sin nombre legible (Instacart department_id)</a:t>
            </a:r>
            <a:endParaRPr lang="es-UY" sz="1100">
              <a:solidFill>
                <a:srgbClr val="E8EEF7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7E6C3BF-78C3-4DAB-A135-B981A9ECF41C}"/>
              </a:ext>
            </a:extLst>
          </p:cNvPr>
          <p:cNvSpPr/>
          <p:nvPr/>
        </p:nvSpPr>
        <p:spPr>
          <a:xfrm>
            <a:off x="8001000" y="1968500"/>
            <a:ext cx="3429000" cy="1841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667E6D1-8579-40F8-ACB9-CD66CCDF8BA4}"/>
              </a:ext>
            </a:extLst>
          </p:cNvPr>
          <p:cNvSpPr/>
          <p:nvPr/>
        </p:nvSpPr>
        <p:spPr>
          <a:xfrm>
            <a:off x="8001000" y="1968500"/>
            <a:ext cx="50800" cy="18415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89D9242-3E8C-46AC-BB31-F019F324D738}"/>
              </a:ext>
            </a:extLst>
          </p:cNvPr>
          <p:cNvSpPr/>
          <p:nvPr/>
        </p:nvSpPr>
        <p:spPr>
          <a:xfrm>
            <a:off x="8229600" y="2171700"/>
            <a:ext cx="482600" cy="3048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5A1927-221E-45F5-AFC6-5ADADF4F377F}"/>
              </a:ext>
            </a:extLst>
          </p:cNvPr>
          <p:cNvSpPr txBox="1"/>
          <p:nvPr/>
        </p:nvSpPr>
        <p:spPr>
          <a:xfrm>
            <a:off x="8229600" y="2171700"/>
            <a:ext cx="482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B1220"/>
                </a:solidFill>
              </a:rPr>
              <a:t>P3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30A69FB-9B5E-4C6E-A746-749A4CE5D771}"/>
              </a:ext>
            </a:extLst>
          </p:cNvPr>
          <p:cNvSpPr txBox="1"/>
          <p:nvPr/>
        </p:nvSpPr>
        <p:spPr>
          <a:xfrm>
            <a:off x="8839200" y="21717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Huérfanos referenciales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5D76F97-896B-4A92-9853-CF8545C0BE4E}"/>
              </a:ext>
            </a:extLst>
          </p:cNvPr>
          <p:cNvSpPr txBox="1"/>
          <p:nvPr/>
        </p:nvSpPr>
        <p:spPr>
          <a:xfrm>
            <a:off x="8229600" y="2603500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TABLA: MOVEMENTS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61EB36F-66A1-40AB-935D-D11B1F8320A6}"/>
              </a:ext>
            </a:extLst>
          </p:cNvPr>
          <p:cNvSpPr txBox="1"/>
          <p:nvPr/>
        </p:nvSpPr>
        <p:spPr>
          <a:xfrm>
            <a:off x="8229600" y="2857500"/>
            <a:ext cx="2971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E8EEF7"/>
                </a:solidFill>
              </a:rPr>
              <a:t>0 huérfanos · PK/FK alineados entre catálogo e Instacart</a:t>
            </a:r>
            <a:endParaRPr lang="es-UY" sz="1100">
              <a:solidFill>
                <a:srgbClr val="E8EEF7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9C745C5-34D0-41CA-81BA-96AD20A49613}"/>
              </a:ext>
            </a:extLst>
          </p:cNvPr>
          <p:cNvSpPr/>
          <p:nvPr/>
        </p:nvSpPr>
        <p:spPr>
          <a:xfrm>
            <a:off x="762000" y="4000500"/>
            <a:ext cx="3429000" cy="1841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6DC8FB0-98B8-4CCD-9F4A-1C730A9A2A0D}"/>
              </a:ext>
            </a:extLst>
          </p:cNvPr>
          <p:cNvSpPr/>
          <p:nvPr/>
        </p:nvSpPr>
        <p:spPr>
          <a:xfrm>
            <a:off x="762000" y="4000500"/>
            <a:ext cx="50800" cy="18415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8B9F46C-1CB2-450D-9957-1E39A19AD2C9}"/>
              </a:ext>
            </a:extLst>
          </p:cNvPr>
          <p:cNvSpPr/>
          <p:nvPr/>
        </p:nvSpPr>
        <p:spPr>
          <a:xfrm>
            <a:off x="990600" y="4203700"/>
            <a:ext cx="482600" cy="3048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F60F6BF-A6C7-4451-B22B-827FEC9CF9F8}"/>
              </a:ext>
            </a:extLst>
          </p:cNvPr>
          <p:cNvSpPr txBox="1"/>
          <p:nvPr/>
        </p:nvSpPr>
        <p:spPr>
          <a:xfrm>
            <a:off x="990600" y="4203700"/>
            <a:ext cx="482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B1220"/>
                </a:solidFill>
              </a:rPr>
              <a:t>P4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4937245-D006-4FEA-814B-8DA2E78CFB2D}"/>
              </a:ext>
            </a:extLst>
          </p:cNvPr>
          <p:cNvSpPr txBox="1"/>
          <p:nvPr/>
        </p:nvSpPr>
        <p:spPr>
          <a:xfrm>
            <a:off x="1600200" y="42037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Tipos de dato ambiguos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C37A53B-CEEA-4F86-9FD1-EB6E5F60B6EB}"/>
              </a:ext>
            </a:extLst>
          </p:cNvPr>
          <p:cNvSpPr txBox="1"/>
          <p:nvPr/>
        </p:nvSpPr>
        <p:spPr>
          <a:xfrm>
            <a:off x="990600" y="4635500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TABLA: AMBAS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B3E5C21-6C29-4C2C-95B2-9AA5E02D457D}"/>
              </a:ext>
            </a:extLst>
          </p:cNvPr>
          <p:cNvSpPr txBox="1"/>
          <p:nvPr/>
        </p:nvSpPr>
        <p:spPr>
          <a:xfrm>
            <a:off x="990600" y="4889500"/>
            <a:ext cx="2971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E8EEF7"/>
                </a:solidFill>
              </a:rPr>
              <a:t>event_type/classification como string · timestamp/expiry_date como string</a:t>
            </a:r>
            <a:endParaRPr lang="es-UY" sz="1100">
              <a:solidFill>
                <a:srgbClr val="E8EEF7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FF4827E-01F9-492A-9B52-FAAEACBEBEC6}"/>
              </a:ext>
            </a:extLst>
          </p:cNvPr>
          <p:cNvSpPr/>
          <p:nvPr/>
        </p:nvSpPr>
        <p:spPr>
          <a:xfrm>
            <a:off x="4381500" y="4000500"/>
            <a:ext cx="3429000" cy="1841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02DC258-3C3A-4281-A31A-72C35810C599}"/>
              </a:ext>
            </a:extLst>
          </p:cNvPr>
          <p:cNvSpPr/>
          <p:nvPr/>
        </p:nvSpPr>
        <p:spPr>
          <a:xfrm>
            <a:off x="4381500" y="4000500"/>
            <a:ext cx="50800" cy="18415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C29E1D6-050C-4AEA-854E-794624A73988}"/>
              </a:ext>
            </a:extLst>
          </p:cNvPr>
          <p:cNvSpPr/>
          <p:nvPr/>
        </p:nvSpPr>
        <p:spPr>
          <a:xfrm>
            <a:off x="4610100" y="4203700"/>
            <a:ext cx="482600" cy="3048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F6F844F-E997-4DE4-8882-B4735D253181}"/>
              </a:ext>
            </a:extLst>
          </p:cNvPr>
          <p:cNvSpPr txBox="1"/>
          <p:nvPr/>
        </p:nvSpPr>
        <p:spPr>
          <a:xfrm>
            <a:off x="4610100" y="4203700"/>
            <a:ext cx="482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B1220"/>
                </a:solidFill>
              </a:rPr>
              <a:t>P5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7BBE654-79B5-4E0B-97A4-B122E78A7332}"/>
              </a:ext>
            </a:extLst>
          </p:cNvPr>
          <p:cNvSpPr txBox="1"/>
          <p:nvPr/>
        </p:nvSpPr>
        <p:spPr>
          <a:xfrm>
            <a:off x="5219700" y="42037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Nutriscore faltante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5E34143-6CE1-4840-ACBD-85C7AB33E01B}"/>
              </a:ext>
            </a:extLst>
          </p:cNvPr>
          <p:cNvSpPr txBox="1"/>
          <p:nvPr/>
        </p:nvSpPr>
        <p:spPr>
          <a:xfrm>
            <a:off x="4610100" y="4635500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TABLA: MOVEMENTS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513111F-5F1E-43B0-A881-114F7D9F82D5}"/>
              </a:ext>
            </a:extLst>
          </p:cNvPr>
          <p:cNvSpPr txBox="1"/>
          <p:nvPr/>
        </p:nvSpPr>
        <p:spPr>
          <a:xfrm>
            <a:off x="4610100" y="4889500"/>
            <a:ext cx="2971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E8EEF7"/>
                </a:solidFill>
              </a:rPr>
              <a:t>'Falta Dato' en nutriscore de 7 productos del catálogo (14% del stock)</a:t>
            </a:r>
            <a:endParaRPr lang="es-UY" sz="1100">
              <a:solidFill>
                <a:srgbClr val="E8EEF7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317FE8D-1DF5-457F-BD1B-FEA9209E9903}"/>
              </a:ext>
            </a:extLst>
          </p:cNvPr>
          <p:cNvSpPr/>
          <p:nvPr/>
        </p:nvSpPr>
        <p:spPr>
          <a:xfrm>
            <a:off x="8001000" y="4000500"/>
            <a:ext cx="3429000" cy="1841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F0209B6-5D4B-4A41-BE21-E1F42A95B1E2}"/>
              </a:ext>
            </a:extLst>
          </p:cNvPr>
          <p:cNvSpPr/>
          <p:nvPr/>
        </p:nvSpPr>
        <p:spPr>
          <a:xfrm>
            <a:off x="8001000" y="4000500"/>
            <a:ext cx="50800" cy="1841500"/>
          </a:xfrm>
          <a:prstGeom prst="rect">
            <a:avLst/>
          </a:prstGeom>
          <a:solidFill>
            <a:srgbClr val="5BA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9A4E1DD-4CE5-4C80-B724-85A9C2017495}"/>
              </a:ext>
            </a:extLst>
          </p:cNvPr>
          <p:cNvSpPr/>
          <p:nvPr/>
        </p:nvSpPr>
        <p:spPr>
          <a:xfrm>
            <a:off x="8229600" y="4203700"/>
            <a:ext cx="482600" cy="304800"/>
          </a:xfrm>
          <a:prstGeom prst="rect">
            <a:avLst/>
          </a:prstGeom>
          <a:solidFill>
            <a:srgbClr val="5BA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F71C5D6-F771-4EA9-8225-3B764952B8EE}"/>
              </a:ext>
            </a:extLst>
          </p:cNvPr>
          <p:cNvSpPr txBox="1"/>
          <p:nvPr/>
        </p:nvSpPr>
        <p:spPr>
          <a:xfrm>
            <a:off x="8229600" y="4203700"/>
            <a:ext cx="4826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B1220"/>
                </a:solidFill>
              </a:rPr>
              <a:t>P6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3021A73-7F30-4B59-B985-877F3DEA096E}"/>
              </a:ext>
            </a:extLst>
          </p:cNvPr>
          <p:cNvSpPr txBox="1"/>
          <p:nvPr/>
        </p:nvSpPr>
        <p:spPr>
          <a:xfrm>
            <a:off x="8839200" y="42037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Duplicados de evento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A36EBBE-1140-4E8C-81BC-3CFC956F9348}"/>
              </a:ext>
            </a:extLst>
          </p:cNvPr>
          <p:cNvSpPr txBox="1"/>
          <p:nvPr/>
        </p:nvSpPr>
        <p:spPr>
          <a:xfrm>
            <a:off x="8229600" y="4635500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AAB6CC"/>
                </a:solidFill>
              </a:rPr>
              <a:t>TABLA: MOVEMENTS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F88A300-10F0-4EC0-8D0B-CDCDD4A2D6AA}"/>
              </a:ext>
            </a:extLst>
          </p:cNvPr>
          <p:cNvSpPr txBox="1"/>
          <p:nvPr/>
        </p:nvSpPr>
        <p:spPr>
          <a:xfrm>
            <a:off x="8229600" y="4889500"/>
            <a:ext cx="29718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</a:rPr>
              <a:t>0 detectados · pipeline preparado como salvaguarda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410AAF6-5E2E-4A86-9E80-E218E2ACB604}"/>
              </a:ext>
            </a:extLst>
          </p:cNvPr>
          <p:cNvSpPr txBox="1"/>
          <p:nvPr/>
        </p:nvSpPr>
        <p:spPr>
          <a:xfrm>
            <a:off x="762000" y="6070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i="1">
                <a:solidFill>
                  <a:srgbClr val="AAB6CC"/>
                </a:solidFill>
              </a:rPr>
              <a:t>P1 y P3 actúan como salvaguarda preventiva · P2 y P5 cubren los problemas reales de la nueva fuente de datos</a:t>
            </a:r>
            <a:endParaRPr lang="es-UY" sz="1100" i="1">
              <a:solidFill>
                <a:srgbClr val="AAB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17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9CC76E-A55B-463C-B5DD-C37DC973C9C1}"/>
              </a:ext>
            </a:extLst>
          </p:cNvPr>
          <p:cNvSpPr txBox="1"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05 · REGLAS DE LIMPIEZA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1D4620-F7FD-4B15-836C-1F05B92AA288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800" b="1">
                <a:solidFill>
                  <a:srgbClr val="FFFFFF"/>
                </a:solidFill>
                <a:latin typeface="Aptos Display"/>
              </a:rPr>
              <a:t>Una regla por problema · efecto cuantificado</a:t>
            </a:r>
            <a:endParaRPr lang="es-UY" sz="28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F9D5316-910B-43E0-A956-DA2253B4FFEB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8F52664-D89A-4A80-AFB5-6C6D994209E6}"/>
              </a:ext>
            </a:extLst>
          </p:cNvPr>
          <p:cNvSpPr/>
          <p:nvPr/>
        </p:nvSpPr>
        <p:spPr>
          <a:xfrm>
            <a:off x="762000" y="1968500"/>
            <a:ext cx="10668000" cy="3556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F95463-A812-47A1-860D-50625A6D66C9}"/>
              </a:ext>
            </a:extLst>
          </p:cNvPr>
          <p:cNvSpPr txBox="1"/>
          <p:nvPr/>
        </p:nvSpPr>
        <p:spPr>
          <a:xfrm>
            <a:off x="889000" y="1968500"/>
            <a:ext cx="50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0D4FF"/>
                </a:solidFill>
              </a:rPr>
              <a:t>#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BD0226-B82B-4BDB-8D00-62B0F9D22E77}"/>
              </a:ext>
            </a:extLst>
          </p:cNvPr>
          <p:cNvSpPr txBox="1"/>
          <p:nvPr/>
        </p:nvSpPr>
        <p:spPr>
          <a:xfrm>
            <a:off x="1651000" y="1968500"/>
            <a:ext cx="558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0D4FF"/>
                </a:solidFill>
              </a:rPr>
              <a:t>Regla aplicada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4C748D-20E9-41C9-85FF-0C7A84089F6C}"/>
              </a:ext>
            </a:extLst>
          </p:cNvPr>
          <p:cNvSpPr txBox="1"/>
          <p:nvPr/>
        </p:nvSpPr>
        <p:spPr>
          <a:xfrm>
            <a:off x="7493000" y="19685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0D4FF"/>
                </a:solidFill>
              </a:rPr>
              <a:t>Efecto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055490-485B-4FF9-B891-3BFAD3295D84}"/>
              </a:ext>
            </a:extLst>
          </p:cNvPr>
          <p:cNvSpPr/>
          <p:nvPr/>
        </p:nvSpPr>
        <p:spPr>
          <a:xfrm>
            <a:off x="762000" y="2374900"/>
            <a:ext cx="10668000" cy="4572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1017B45-EB09-40D2-8E39-DB223175CABC}"/>
              </a:ext>
            </a:extLst>
          </p:cNvPr>
          <p:cNvSpPr/>
          <p:nvPr/>
        </p:nvSpPr>
        <p:spPr>
          <a:xfrm>
            <a:off x="889000" y="2463800"/>
            <a:ext cx="457200" cy="2794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BDB50E-CC05-41AE-B4A4-B2F23B6AB3BB}"/>
              </a:ext>
            </a:extLst>
          </p:cNvPr>
          <p:cNvSpPr txBox="1"/>
          <p:nvPr/>
        </p:nvSpPr>
        <p:spPr>
          <a:xfrm>
            <a:off x="889000" y="24638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B1220"/>
                </a:solidFill>
              </a:rPr>
              <a:t>P1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F2F7D1-7DAA-4CBE-A1F0-899174538C21}"/>
              </a:ext>
            </a:extLst>
          </p:cNvPr>
          <p:cNvSpPr txBox="1"/>
          <p:nvPr/>
        </p:nvSpPr>
        <p:spPr>
          <a:xfrm>
            <a:off x="1651000" y="2374900"/>
            <a:ext cx="5588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Si calories_100g &gt; 900 → eliminar fila del catálogo (umbral físico)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2CA65D-44F6-4620-97B1-E1595BA03664}"/>
              </a:ext>
            </a:extLst>
          </p:cNvPr>
          <p:cNvSpPr txBox="1"/>
          <p:nvPr/>
        </p:nvSpPr>
        <p:spPr>
          <a:xfrm>
            <a:off x="7493000" y="23749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200" b="1">
                <a:solidFill>
                  <a:srgbClr val="FF5577"/>
                </a:solidFill>
              </a:rPr>
              <a:t>Catálogo: 50 → 50 · 0 outliers · salvaguarda activa</a:t>
            </a:r>
            <a:endParaRPr lang="es-UY" sz="1200" b="1">
              <a:solidFill>
                <a:srgbClr val="FF5577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669B572-9799-4040-BD35-05C553FF5E7A}"/>
              </a:ext>
            </a:extLst>
          </p:cNvPr>
          <p:cNvSpPr/>
          <p:nvPr/>
        </p:nvSpPr>
        <p:spPr>
          <a:xfrm>
            <a:off x="889000" y="2921000"/>
            <a:ext cx="457200" cy="2794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F165FB2-FC8C-482E-B587-5DF194392436}"/>
              </a:ext>
            </a:extLst>
          </p:cNvPr>
          <p:cNvSpPr txBox="1"/>
          <p:nvPr/>
        </p:nvSpPr>
        <p:spPr>
          <a:xfrm>
            <a:off x="889000" y="29210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B1220"/>
                </a:solidFill>
              </a:rPr>
              <a:t>P2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7F2CAAD-A637-4F05-8D16-2029A5630DD5}"/>
              </a:ext>
            </a:extLst>
          </p:cNvPr>
          <p:cNvSpPr txBox="1"/>
          <p:nvPr/>
        </p:nvSpPr>
        <p:spPr>
          <a:xfrm>
            <a:off x="1651000" y="2832100"/>
            <a:ext cx="5588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Mapeo manual category → category_name (taxonomía propia)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D1E4CCE-0377-4941-9593-7908625F7AEB}"/>
              </a:ext>
            </a:extLst>
          </p:cNvPr>
          <p:cNvSpPr txBox="1"/>
          <p:nvPr/>
        </p:nvSpPr>
        <p:spPr>
          <a:xfrm>
            <a:off x="7493000" y="28321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200" b="1">
                <a:solidFill>
                  <a:srgbClr val="FFB020"/>
                </a:solidFill>
              </a:rPr>
              <a:t>6 dept_ids → 6 category_name + location derivada</a:t>
            </a:r>
            <a:endParaRPr lang="es-UY" sz="1200" b="1">
              <a:solidFill>
                <a:srgbClr val="FFB020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C3A8035-6A0D-4266-A18A-E6AD88BE019A}"/>
              </a:ext>
            </a:extLst>
          </p:cNvPr>
          <p:cNvSpPr/>
          <p:nvPr/>
        </p:nvSpPr>
        <p:spPr>
          <a:xfrm>
            <a:off x="762000" y="3289300"/>
            <a:ext cx="10668000" cy="4572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0DC270E-5C25-4F50-A0E0-85B69E1ED2E6}"/>
              </a:ext>
            </a:extLst>
          </p:cNvPr>
          <p:cNvSpPr/>
          <p:nvPr/>
        </p:nvSpPr>
        <p:spPr>
          <a:xfrm>
            <a:off x="889000" y="3378200"/>
            <a:ext cx="457200" cy="2794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92A3025-4577-4C0C-A9A4-A1444AEE0575}"/>
              </a:ext>
            </a:extLst>
          </p:cNvPr>
          <p:cNvSpPr txBox="1"/>
          <p:nvPr/>
        </p:nvSpPr>
        <p:spPr>
          <a:xfrm>
            <a:off x="889000" y="33782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B1220"/>
                </a:solidFill>
              </a:rPr>
              <a:t>P3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AF07BFD-8557-42A5-A027-893D14785C8C}"/>
              </a:ext>
            </a:extLst>
          </p:cNvPr>
          <p:cNvSpPr txBox="1"/>
          <p:nvPr/>
        </p:nvSpPr>
        <p:spPr>
          <a:xfrm>
            <a:off x="1651000" y="3289300"/>
            <a:ext cx="5588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Eliminar eventos cuyo product_id no exista en catálogo limpio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12112D9-BEFD-4899-8087-ADF0E90FF38C}"/>
              </a:ext>
            </a:extLst>
          </p:cNvPr>
          <p:cNvSpPr txBox="1"/>
          <p:nvPr/>
        </p:nvSpPr>
        <p:spPr>
          <a:xfrm>
            <a:off x="7493000" y="32893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FF5577"/>
                </a:solidFill>
              </a:rPr>
              <a:t>Movements: 25,819 → 25,819 · 0 huérfanos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69C6E30-671F-49AF-B387-D00C0B19F358}"/>
              </a:ext>
            </a:extLst>
          </p:cNvPr>
          <p:cNvSpPr/>
          <p:nvPr/>
        </p:nvSpPr>
        <p:spPr>
          <a:xfrm>
            <a:off x="889000" y="3835400"/>
            <a:ext cx="457200" cy="2794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F3971C5-0DC9-4A13-A800-8AF031BAEE62}"/>
              </a:ext>
            </a:extLst>
          </p:cNvPr>
          <p:cNvSpPr txBox="1"/>
          <p:nvPr/>
        </p:nvSpPr>
        <p:spPr>
          <a:xfrm>
            <a:off x="889000" y="38354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B1220"/>
                </a:solidFill>
              </a:rPr>
              <a:t>P4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E2533D1-2CFE-47AD-B210-23C165CC9107}"/>
              </a:ext>
            </a:extLst>
          </p:cNvPr>
          <p:cNvSpPr txBox="1"/>
          <p:nvPr/>
        </p:nvSpPr>
        <p:spPr>
          <a:xfrm>
            <a:off x="1651000" y="3746500"/>
            <a:ext cx="5588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Cast explícito: Int64 · datetime · categórico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854420C-E14B-49BA-AA24-C93BF62C5FB7}"/>
              </a:ext>
            </a:extLst>
          </p:cNvPr>
          <p:cNvSpPr txBox="1"/>
          <p:nvPr/>
        </p:nvSpPr>
        <p:spPr>
          <a:xfrm>
            <a:off x="7493000" y="37465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200" b="1">
                <a:solidFill>
                  <a:srgbClr val="7C5CFF"/>
                </a:solidFill>
              </a:rPr>
              <a:t>17 columnas con tipos consistentes</a:t>
            </a:r>
            <a:endParaRPr lang="es-UY" sz="1200" b="1">
              <a:solidFill>
                <a:srgbClr val="7C5CFF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DCC06BA-1CAC-4E47-9EC9-7845EECE0D5A}"/>
              </a:ext>
            </a:extLst>
          </p:cNvPr>
          <p:cNvSpPr/>
          <p:nvPr/>
        </p:nvSpPr>
        <p:spPr>
          <a:xfrm>
            <a:off x="762000" y="4203700"/>
            <a:ext cx="10668000" cy="4572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0234F5D-FF58-4E2D-90D3-E9AE318D4A7C}"/>
              </a:ext>
            </a:extLst>
          </p:cNvPr>
          <p:cNvSpPr/>
          <p:nvPr/>
        </p:nvSpPr>
        <p:spPr>
          <a:xfrm>
            <a:off x="889000" y="4292600"/>
            <a:ext cx="457200" cy="2794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EC1254B-70C3-42EF-9326-7DD6462CBDC5}"/>
              </a:ext>
            </a:extLst>
          </p:cNvPr>
          <p:cNvSpPr txBox="1"/>
          <p:nvPr/>
        </p:nvSpPr>
        <p:spPr>
          <a:xfrm>
            <a:off x="889000" y="42926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B1220"/>
                </a:solidFill>
              </a:rPr>
              <a:t>P5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69BF1C6-8C6A-4D27-A271-783CE2EB3CA6}"/>
              </a:ext>
            </a:extLst>
          </p:cNvPr>
          <p:cNvSpPr txBox="1"/>
          <p:nvPr/>
        </p:nvSpPr>
        <p:spPr>
          <a:xfrm>
            <a:off x="1651000" y="4203700"/>
            <a:ext cx="5588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200">
                <a:solidFill>
                  <a:srgbClr val="E8EEF7"/>
                </a:solidFill>
              </a:rPr>
              <a:t>'Falta Dato' → null · dias_para_vencer en todos los eventos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D6495F2-AB26-450E-93A3-4E63F17F4DD8}"/>
              </a:ext>
            </a:extLst>
          </p:cNvPr>
          <p:cNvSpPr txBox="1"/>
          <p:nvPr/>
        </p:nvSpPr>
        <p:spPr>
          <a:xfrm>
            <a:off x="7493000" y="42037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0E5A0"/>
                </a:solidFill>
              </a:rPr>
              <a:t>7 productos / 3,576 eventos con nulo preservado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E59E7F0-E03E-4C1D-B916-0E9BEB5D7479}"/>
              </a:ext>
            </a:extLst>
          </p:cNvPr>
          <p:cNvSpPr/>
          <p:nvPr/>
        </p:nvSpPr>
        <p:spPr>
          <a:xfrm>
            <a:off x="889000" y="4749800"/>
            <a:ext cx="457200" cy="279400"/>
          </a:xfrm>
          <a:prstGeom prst="rect">
            <a:avLst/>
          </a:prstGeom>
          <a:solidFill>
            <a:srgbClr val="5BA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FAEAEA8-1151-4EF9-A3EB-E22A24C5E047}"/>
              </a:ext>
            </a:extLst>
          </p:cNvPr>
          <p:cNvSpPr txBox="1"/>
          <p:nvPr/>
        </p:nvSpPr>
        <p:spPr>
          <a:xfrm>
            <a:off x="889000" y="4749800"/>
            <a:ext cx="457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100" b="1">
                <a:solidFill>
                  <a:srgbClr val="0B1220"/>
                </a:solidFill>
              </a:rPr>
              <a:t>P6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8CB501F-7326-4B76-B8B9-D1231C08E103}"/>
              </a:ext>
            </a:extLst>
          </p:cNvPr>
          <p:cNvSpPr txBox="1"/>
          <p:nvPr/>
        </p:nvSpPr>
        <p:spPr>
          <a:xfrm>
            <a:off x="1651000" y="4660900"/>
            <a:ext cx="5588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E8EEF7"/>
                </a:solidFill>
              </a:rPr>
              <a:t>drop_duplicates(subset=event_id, keep='first')</a:t>
            </a:r>
            <a:endParaRPr lang="es-UY" sz="1200">
              <a:solidFill>
                <a:srgbClr val="E8EEF7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0F37223-1DD8-432C-B6FD-FE0C8B39F965}"/>
              </a:ext>
            </a:extLst>
          </p:cNvPr>
          <p:cNvSpPr txBox="1"/>
          <p:nvPr/>
        </p:nvSpPr>
        <p:spPr>
          <a:xfrm>
            <a:off x="7493000" y="4660900"/>
            <a:ext cx="3937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5BA4FF"/>
                </a:solidFill>
              </a:rPr>
              <a:t>0 removidos · paso de salvaguarda activo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BCDDBA9-0A03-4B73-A273-F2CA9C35DBC0}"/>
              </a:ext>
            </a:extLst>
          </p:cNvPr>
          <p:cNvSpPr/>
          <p:nvPr/>
        </p:nvSpPr>
        <p:spPr>
          <a:xfrm>
            <a:off x="762000" y="5295900"/>
            <a:ext cx="10668000" cy="7112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EE18B99-7902-4343-9C7D-4E96BA44EF1D}"/>
              </a:ext>
            </a:extLst>
          </p:cNvPr>
          <p:cNvSpPr/>
          <p:nvPr/>
        </p:nvSpPr>
        <p:spPr>
          <a:xfrm>
            <a:off x="762000" y="5295900"/>
            <a:ext cx="50800" cy="7112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06A1054-34E7-4619-B420-77CD7721C439}"/>
              </a:ext>
            </a:extLst>
          </p:cNvPr>
          <p:cNvSpPr txBox="1"/>
          <p:nvPr/>
        </p:nvSpPr>
        <p:spPr>
          <a:xfrm>
            <a:off x="1016000" y="5397500"/>
            <a:ext cx="1016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000" b="1">
                <a:solidFill>
                  <a:srgbClr val="00E5A0"/>
                </a:solidFill>
              </a:rPr>
              <a:t>RESUMEN EJECUTIVO  ·  ejec. 2026-05-02 23:31</a:t>
            </a:r>
            <a:endParaRPr lang="es-UY" sz="1000" b="1">
              <a:solidFill>
                <a:srgbClr val="00E5A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15B1C12-35D5-49AE-9A11-DF436EBF2A73}"/>
              </a:ext>
            </a:extLst>
          </p:cNvPr>
          <p:cNvSpPr txBox="1"/>
          <p:nvPr/>
        </p:nvSpPr>
        <p:spPr>
          <a:xfrm>
            <a:off x="1016000" y="56261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300" b="1">
                <a:solidFill>
                  <a:srgbClr val="FFFFFF"/>
                </a:solidFill>
              </a:rPr>
              <a:t>Catálogo 50→50  ·  Movements 25,819→25,819  ·  inventory_v1: 25,819×17  ·  Integridad referencial 100%</a:t>
            </a:r>
          </a:p>
        </p:txBody>
      </p:sp>
    </p:spTree>
    <p:extLst>
      <p:ext uri="{BB962C8B-B14F-4D97-AF65-F5344CB8AC3E}">
        <p14:creationId xmlns:p14="http://schemas.microsoft.com/office/powerpoint/2010/main" val="189495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57BD1E-CC24-4101-9CD6-39AD4CBD71ED}"/>
              </a:ext>
            </a:extLst>
          </p:cNvPr>
          <p:cNvSpPr txBox="1"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06 · BITÁCORA INICIAL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9E8A3D-E34C-4DBC-9D66-359446D58A37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200" b="1">
                <a:solidFill>
                  <a:srgbClr val="FFFFFF"/>
                </a:solidFill>
                <a:latin typeface="Aptos Display"/>
              </a:rPr>
              <a:t>Dato original → Dato transformado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0C2AB74-D9BF-4282-A245-7A064E9C096A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AA461D-41A9-40AB-ACBB-A078774FCE9D}"/>
              </a:ext>
            </a:extLst>
          </p:cNvPr>
          <p:cNvSpPr/>
          <p:nvPr/>
        </p:nvSpPr>
        <p:spPr>
          <a:xfrm>
            <a:off x="762000" y="1968500"/>
            <a:ext cx="5207000" cy="406400"/>
          </a:xfrm>
          <a:prstGeom prst="rect">
            <a:avLst/>
          </a:prstGeom>
          <a:solidFill>
            <a:srgbClr val="FF55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C6887FA-D3A5-45F9-8536-CD8AF539F736}"/>
              </a:ext>
            </a:extLst>
          </p:cNvPr>
          <p:cNvSpPr txBox="1"/>
          <p:nvPr/>
        </p:nvSpPr>
        <p:spPr>
          <a:xfrm>
            <a:off x="1016000" y="19685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UY" sz="1200" b="1">
                <a:solidFill>
                  <a:srgbClr val="0B1220"/>
                </a:solidFill>
              </a:rPr>
              <a:t>ORIGINAL  ·  data/raw/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119D0B49-460F-4260-96BD-6B21B4671526}"/>
              </a:ext>
            </a:extLst>
          </p:cNvPr>
          <p:cNvSpPr/>
          <p:nvPr/>
        </p:nvSpPr>
        <p:spPr>
          <a:xfrm>
            <a:off x="5994400" y="1968500"/>
            <a:ext cx="203200" cy="406400"/>
          </a:xfrm>
          <a:prstGeom prst="rightArrow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734EFD-B3AB-4DEE-9642-61C672BF1B5A}"/>
              </a:ext>
            </a:extLst>
          </p:cNvPr>
          <p:cNvSpPr/>
          <p:nvPr/>
        </p:nvSpPr>
        <p:spPr>
          <a:xfrm>
            <a:off x="6223000" y="1968500"/>
            <a:ext cx="5207000" cy="4064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9482441-2668-4CE1-BB7D-B1B724032AD9}"/>
              </a:ext>
            </a:extLst>
          </p:cNvPr>
          <p:cNvSpPr txBox="1"/>
          <p:nvPr/>
        </p:nvSpPr>
        <p:spPr>
          <a:xfrm>
            <a:off x="6477000" y="19685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0B1220"/>
                </a:solidFill>
              </a:rPr>
              <a:t>TRANSFORMADO  ·  data/interim/inventory_v1.csv</a:t>
            </a:r>
            <a:endParaRPr lang="es-UY" sz="1200" b="1">
              <a:solidFill>
                <a:srgbClr val="0B122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EE2CCDF-1ACD-4163-926D-4FA74922F47B}"/>
              </a:ext>
            </a:extLst>
          </p:cNvPr>
          <p:cNvSpPr/>
          <p:nvPr/>
        </p:nvSpPr>
        <p:spPr>
          <a:xfrm>
            <a:off x="762000" y="2501900"/>
            <a:ext cx="5207000" cy="635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65D95C-2906-41B3-B85F-4BA7F92B0BF7}"/>
              </a:ext>
            </a:extLst>
          </p:cNvPr>
          <p:cNvSpPr/>
          <p:nvPr/>
        </p:nvSpPr>
        <p:spPr>
          <a:xfrm>
            <a:off x="6223000" y="2501900"/>
            <a:ext cx="5207000" cy="635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69BF23-B15A-4918-B38C-984ACACA47DA}"/>
              </a:ext>
            </a:extLst>
          </p:cNvPr>
          <p:cNvSpPr txBox="1"/>
          <p:nvPr/>
        </p:nvSpPr>
        <p:spPr>
          <a:xfrm>
            <a:off x="889000" y="25527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2026-04-30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FE5665D-1272-4FD8-B71F-391249028046}"/>
              </a:ext>
            </a:extLst>
          </p:cNvPr>
          <p:cNvSpPr txBox="1"/>
          <p:nvPr/>
        </p:nvSpPr>
        <p:spPr>
          <a:xfrm>
            <a:off x="889000" y="2730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category dept_id numérico (6 valores)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50046CE-C415-4300-BAE2-927C845081D3}"/>
              </a:ext>
            </a:extLst>
          </p:cNvPr>
          <p:cNvSpPr txBox="1"/>
          <p:nvPr/>
        </p:nvSpPr>
        <p:spPr>
          <a:xfrm>
            <a:off x="6350000" y="25527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2026-04-30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18A9345-E401-45E1-94A2-C50BDBBE0A71}"/>
              </a:ext>
            </a:extLst>
          </p:cNvPr>
          <p:cNvSpPr txBox="1"/>
          <p:nvPr/>
        </p:nvSpPr>
        <p:spPr>
          <a:xfrm>
            <a:off x="6350000" y="2730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FFFFFF"/>
                </a:solidFill>
              </a:rPr>
              <a:t>6 category_name + location derivada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1C130EE-4F07-4B95-B1B3-946C1F7A1F76}"/>
              </a:ext>
            </a:extLst>
          </p:cNvPr>
          <p:cNvSpPr txBox="1"/>
          <p:nvPr/>
        </p:nvSpPr>
        <p:spPr>
          <a:xfrm>
            <a:off x="889000" y="32385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2026-04-30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D7025F0-9C05-4FB5-A753-18051DD6A90A}"/>
              </a:ext>
            </a:extLst>
          </p:cNvPr>
          <p:cNvSpPr txBox="1"/>
          <p:nvPr/>
        </p:nvSpPr>
        <p:spPr>
          <a:xfrm>
            <a:off x="889000" y="3416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nutriscore = 'Falta Dato' en 7 productos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080B37-EB35-4135-87FF-F72D644BEEC6}"/>
              </a:ext>
            </a:extLst>
          </p:cNvPr>
          <p:cNvSpPr txBox="1"/>
          <p:nvPr/>
        </p:nvSpPr>
        <p:spPr>
          <a:xfrm>
            <a:off x="6350000" y="32385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2026-04-30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7D50DB0-4DFF-48D2-9637-5E50C02925FE}"/>
              </a:ext>
            </a:extLst>
          </p:cNvPr>
          <p:cNvSpPr txBox="1"/>
          <p:nvPr/>
        </p:nvSpPr>
        <p:spPr>
          <a:xfrm>
            <a:off x="6350000" y="3416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200" b="1">
                <a:solidFill>
                  <a:srgbClr val="FFFFFF"/>
                </a:solidFill>
              </a:rPr>
              <a:t>Convertido a null · nulo estructural preservado</a:t>
            </a:r>
            <a:endParaRPr lang="es-UY" sz="1200" b="1">
              <a:solidFill>
                <a:srgbClr val="FFFFFF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A26F3E7-3E50-434D-96B6-8685B46DE043}"/>
              </a:ext>
            </a:extLst>
          </p:cNvPr>
          <p:cNvSpPr/>
          <p:nvPr/>
        </p:nvSpPr>
        <p:spPr>
          <a:xfrm>
            <a:off x="762000" y="3873500"/>
            <a:ext cx="5207000" cy="635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7B29A6D-6C07-4F05-A6EA-DF8ABA52D781}"/>
              </a:ext>
            </a:extLst>
          </p:cNvPr>
          <p:cNvSpPr/>
          <p:nvPr/>
        </p:nvSpPr>
        <p:spPr>
          <a:xfrm>
            <a:off x="6223000" y="3873500"/>
            <a:ext cx="5207000" cy="635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D9BDF53-D156-458F-B640-F1B2513F7941}"/>
              </a:ext>
            </a:extLst>
          </p:cNvPr>
          <p:cNvSpPr txBox="1"/>
          <p:nvPr/>
        </p:nvSpPr>
        <p:spPr>
          <a:xfrm>
            <a:off x="889000" y="39243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2026-05-01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C077169-CABE-42BB-B77B-1C2F0776C6AB}"/>
              </a:ext>
            </a:extLst>
          </p:cNvPr>
          <p:cNvSpPr txBox="1"/>
          <p:nvPr/>
        </p:nvSpPr>
        <p:spPr>
          <a:xfrm>
            <a:off x="889000" y="41021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event_type en lugar de action_type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6F025E1-F710-47B6-8A3C-1D9A79A07BDE}"/>
              </a:ext>
            </a:extLst>
          </p:cNvPr>
          <p:cNvSpPr txBox="1"/>
          <p:nvPr/>
        </p:nvSpPr>
        <p:spPr>
          <a:xfrm>
            <a:off x="6350000" y="39243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2026-05-01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98AE695-DA6B-499C-B7D4-EFB0D71AF0CE}"/>
              </a:ext>
            </a:extLst>
          </p:cNvPr>
          <p:cNvSpPr txBox="1"/>
          <p:nvPr/>
        </p:nvSpPr>
        <p:spPr>
          <a:xfrm>
            <a:off x="6350000" y="41021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FFFFFF"/>
                </a:solidFill>
              </a:rPr>
              <a:t>action_type como alias normalizado (IN/OUT)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903464D-7C91-4287-BD3A-4D90FACC913B}"/>
              </a:ext>
            </a:extLst>
          </p:cNvPr>
          <p:cNvSpPr txBox="1"/>
          <p:nvPr/>
        </p:nvSpPr>
        <p:spPr>
          <a:xfrm>
            <a:off x="889000" y="46101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2026-05-01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DE5757B-2E79-4F86-B41E-CC74FD3E787B}"/>
              </a:ext>
            </a:extLst>
          </p:cNvPr>
          <p:cNvSpPr txBox="1"/>
          <p:nvPr/>
        </p:nvSpPr>
        <p:spPr>
          <a:xfrm>
            <a:off x="889000" y="47879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25,819 movimientos · integridad referencial 100%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D5E9E87-96CD-4DEF-B3DE-B5242744EDDE}"/>
              </a:ext>
            </a:extLst>
          </p:cNvPr>
          <p:cNvSpPr txBox="1"/>
          <p:nvPr/>
        </p:nvSpPr>
        <p:spPr>
          <a:xfrm>
            <a:off x="6350000" y="46101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2026-05-01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1ED1612-6B1E-4B52-84FC-7CC87031866C}"/>
              </a:ext>
            </a:extLst>
          </p:cNvPr>
          <p:cNvSpPr txBox="1"/>
          <p:nvPr/>
        </p:nvSpPr>
        <p:spPr>
          <a:xfrm>
            <a:off x="6350000" y="47879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FFFFFF"/>
                </a:solidFill>
              </a:rPr>
              <a:t>inventory_v1.csv · 25,819 × 17 · tipos uniformes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9FF264-FA38-4507-A066-904C43A6C53F}"/>
              </a:ext>
            </a:extLst>
          </p:cNvPr>
          <p:cNvSpPr/>
          <p:nvPr/>
        </p:nvSpPr>
        <p:spPr>
          <a:xfrm>
            <a:off x="762000" y="5245100"/>
            <a:ext cx="5207000" cy="635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1B52C4A-B290-43D2-BF5C-19BD430C26DA}"/>
              </a:ext>
            </a:extLst>
          </p:cNvPr>
          <p:cNvSpPr/>
          <p:nvPr/>
        </p:nvSpPr>
        <p:spPr>
          <a:xfrm>
            <a:off x="6223000" y="5245100"/>
            <a:ext cx="5207000" cy="6350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C0D4C88-FC49-4992-B96A-DA7FFC00852E}"/>
              </a:ext>
            </a:extLst>
          </p:cNvPr>
          <p:cNvSpPr txBox="1"/>
          <p:nvPr/>
        </p:nvSpPr>
        <p:spPr>
          <a:xfrm>
            <a:off x="889000" y="52959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2026-05-01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F23EA5A-0D05-4B0E-87D2-75447D8CD118}"/>
              </a:ext>
            </a:extLst>
          </p:cNvPr>
          <p:cNvSpPr txBox="1"/>
          <p:nvPr/>
        </p:nvSpPr>
        <p:spPr>
          <a:xfrm>
            <a:off x="889000" y="54737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>
                <a:solidFill>
                  <a:srgbClr val="E8EEF7"/>
                </a:solidFill>
              </a:rPr>
              <a:t>location ausente en movements raw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C783DFD-25CD-42D6-9C23-99B17F4BD9A7}"/>
              </a:ext>
            </a:extLst>
          </p:cNvPr>
          <p:cNvSpPr txBox="1"/>
          <p:nvPr/>
        </p:nvSpPr>
        <p:spPr>
          <a:xfrm>
            <a:off x="6350000" y="52959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b="1">
                <a:solidFill>
                  <a:srgbClr val="7C5CFF"/>
                </a:solidFill>
              </a:rPr>
              <a:t>2026-05-01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2E7E08D-3425-4C59-9F60-1AF944C75AAA}"/>
              </a:ext>
            </a:extLst>
          </p:cNvPr>
          <p:cNvSpPr txBox="1"/>
          <p:nvPr/>
        </p:nvSpPr>
        <p:spPr>
          <a:xfrm>
            <a:off x="6350000" y="54737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FFFFFF"/>
                </a:solidFill>
              </a:rPr>
              <a:t>location derivada de dept_id · Refrigerador / Estante / Despensa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E954D7B-14F4-4CC1-B2E6-23138C313CA2}"/>
              </a:ext>
            </a:extLst>
          </p:cNvPr>
          <p:cNvSpPr txBox="1"/>
          <p:nvPr/>
        </p:nvSpPr>
        <p:spPr>
          <a:xfrm>
            <a:off x="762000" y="6223000"/>
            <a:ext cx="1066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i="1">
                <a:solidFill>
                  <a:srgbClr val="AAB6CC"/>
                </a:solidFill>
              </a:rPr>
              <a:t>Trazabilidad técnica: data/interim/transformations_log.json — única fuente de verdad cuantitativa de la limpieza</a:t>
            </a:r>
            <a:endParaRPr lang="es-UY" sz="1100" i="1">
              <a:solidFill>
                <a:srgbClr val="AAB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95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151338E-CC57-4397-8ACC-8434639BDB55}"/>
              </a:ext>
            </a:extLst>
          </p:cNvPr>
          <p:cNvSpPr txBox="1"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07 · MODELO DE DATOS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88021E-50F0-43C8-BC3B-D12BAA03857D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200" b="1">
                <a:solidFill>
                  <a:srgbClr val="FFFFFF"/>
                </a:solidFill>
                <a:latin typeface="Aptos Display"/>
              </a:rPr>
              <a:t>Estrella simple · listo para Tableau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2AD1263-8E4C-4B00-8497-E3E79F777AFB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00D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EFE31F-DD0F-4639-8BBC-E884CF46EF92}"/>
              </a:ext>
            </a:extLst>
          </p:cNvPr>
          <p:cNvSpPr/>
          <p:nvPr/>
        </p:nvSpPr>
        <p:spPr>
          <a:xfrm>
            <a:off x="1016000" y="2222500"/>
            <a:ext cx="3556000" cy="2222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24E41B9-6C58-4123-8B73-6933CE776B13}"/>
              </a:ext>
            </a:extLst>
          </p:cNvPr>
          <p:cNvSpPr/>
          <p:nvPr/>
        </p:nvSpPr>
        <p:spPr>
          <a:xfrm>
            <a:off x="1016000" y="2222500"/>
            <a:ext cx="3556000" cy="50800"/>
          </a:xfrm>
          <a:prstGeom prst="rect">
            <a:avLst/>
          </a:prstGeom>
          <a:solidFill>
            <a:srgbClr val="FFB0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954E80-720F-4AA3-983C-CE934B28EFFB}"/>
              </a:ext>
            </a:extLst>
          </p:cNvPr>
          <p:cNvSpPr txBox="1"/>
          <p:nvPr/>
        </p:nvSpPr>
        <p:spPr>
          <a:xfrm>
            <a:off x="1219200" y="2400300"/>
            <a:ext cx="3149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FFB020"/>
                </a:solidFill>
              </a:rPr>
              <a:t>TABLA DE HECHOS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57AA71-6D6E-42D8-8D71-3F2F82EE1A45}"/>
              </a:ext>
            </a:extLst>
          </p:cNvPr>
          <p:cNvSpPr txBox="1"/>
          <p:nvPr/>
        </p:nvSpPr>
        <p:spPr>
          <a:xfrm>
            <a:off x="1219200" y="2628900"/>
            <a:ext cx="314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b="1">
                <a:solidFill>
                  <a:srgbClr val="FFFFFF"/>
                </a:solidFill>
                <a:latin typeface="Aptos"/>
              </a:rPr>
              <a:t>movements_clean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43A038-5998-4473-8C78-FBDC699DCFF0}"/>
              </a:ext>
            </a:extLst>
          </p:cNvPr>
          <p:cNvSpPr txBox="1"/>
          <p:nvPr/>
        </p:nvSpPr>
        <p:spPr>
          <a:xfrm>
            <a:off x="1219200" y="2984500"/>
            <a:ext cx="3149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100" i="1">
                <a:solidFill>
                  <a:srgbClr val="AAB6CC"/>
                </a:solidFill>
              </a:rPr>
              <a:t>25,819 filas · 1 evento por fila</a:t>
            </a:r>
            <a:endParaRPr lang="es-UY" sz="1100" i="1">
              <a:solidFill>
                <a:srgbClr val="AAB6CC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3D9E83C-148A-48D6-BD8B-ECCF1462FC39}"/>
              </a:ext>
            </a:extLst>
          </p:cNvPr>
          <p:cNvSpPr txBox="1"/>
          <p:nvPr/>
        </p:nvSpPr>
        <p:spPr>
          <a:xfrm>
            <a:off x="1219200" y="32639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event_id (PK)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3385A4-B33C-4F27-983B-DAB104BFD098}"/>
              </a:ext>
            </a:extLst>
          </p:cNvPr>
          <p:cNvSpPr txBox="1"/>
          <p:nvPr/>
        </p:nvSpPr>
        <p:spPr>
          <a:xfrm>
            <a:off x="1219200" y="34544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product_id (FK)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0464840-521A-40CE-9E2C-B8A77C58FF5C}"/>
              </a:ext>
            </a:extLst>
          </p:cNvPr>
          <p:cNvSpPr txBox="1"/>
          <p:nvPr/>
        </p:nvSpPr>
        <p:spPr>
          <a:xfrm>
            <a:off x="1219200" y="36449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timestamp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E54175D-038B-409F-B8F2-DCDE0BC5106B}"/>
              </a:ext>
            </a:extLst>
          </p:cNvPr>
          <p:cNvSpPr txBox="1"/>
          <p:nvPr/>
        </p:nvSpPr>
        <p:spPr>
          <a:xfrm>
            <a:off x="1219200" y="38354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action_type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0E1818F-7D3B-4E03-A08F-55F2245AEA91}"/>
              </a:ext>
            </a:extLst>
          </p:cNvPr>
          <p:cNvSpPr txBox="1"/>
          <p:nvPr/>
        </p:nvSpPr>
        <p:spPr>
          <a:xfrm>
            <a:off x="1219200" y="40259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location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329BE4-D3BD-4E3D-91A2-F5EC16A64E47}"/>
              </a:ext>
            </a:extLst>
          </p:cNvPr>
          <p:cNvSpPr txBox="1"/>
          <p:nvPr/>
        </p:nvSpPr>
        <p:spPr>
          <a:xfrm>
            <a:off x="1219200" y="42164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expiry_date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E7DBE590-3ABC-423B-BF5F-573CF01298DA}"/>
              </a:ext>
            </a:extLst>
          </p:cNvPr>
          <p:cNvSpPr/>
          <p:nvPr/>
        </p:nvSpPr>
        <p:spPr>
          <a:xfrm>
            <a:off x="4699000" y="3155950"/>
            <a:ext cx="1016000" cy="355600"/>
          </a:xfrm>
          <a:prstGeom prst="rightArrow">
            <a:avLst/>
          </a:prstGeom>
          <a:solidFill>
            <a:srgbClr val="7C5C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F931C8B-44F4-4CB1-8290-82F80DF1C738}"/>
              </a:ext>
            </a:extLst>
          </p:cNvPr>
          <p:cNvSpPr txBox="1"/>
          <p:nvPr/>
        </p:nvSpPr>
        <p:spPr>
          <a:xfrm>
            <a:off x="4699000" y="285115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7C5CFF"/>
                </a:solidFill>
              </a:rPr>
              <a:t>N : 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470D90B-875D-4407-9DC8-0E43D97BA6AE}"/>
              </a:ext>
            </a:extLst>
          </p:cNvPr>
          <p:cNvSpPr txBox="1"/>
          <p:nvPr/>
        </p:nvSpPr>
        <p:spPr>
          <a:xfrm>
            <a:off x="4699000" y="3562350"/>
            <a:ext cx="101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900" i="1">
                <a:solidFill>
                  <a:srgbClr val="AAB6CC"/>
                </a:solidFill>
              </a:rPr>
              <a:t>product_id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A56B051-F760-4744-8F1C-6E0C14EEE5A9}"/>
              </a:ext>
            </a:extLst>
          </p:cNvPr>
          <p:cNvSpPr/>
          <p:nvPr/>
        </p:nvSpPr>
        <p:spPr>
          <a:xfrm>
            <a:off x="5969000" y="2222500"/>
            <a:ext cx="3556000" cy="22225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C5EE144-7919-4B9D-90BE-2C9915D3F0F4}"/>
              </a:ext>
            </a:extLst>
          </p:cNvPr>
          <p:cNvSpPr/>
          <p:nvPr/>
        </p:nvSpPr>
        <p:spPr>
          <a:xfrm>
            <a:off x="5969000" y="2222500"/>
            <a:ext cx="3556000" cy="50800"/>
          </a:xfrm>
          <a:prstGeom prst="rect">
            <a:avLst/>
          </a:prstGeom>
          <a:solidFill>
            <a:srgbClr val="00D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D58F055-54EE-4332-918F-FD0DB84CF21A}"/>
              </a:ext>
            </a:extLst>
          </p:cNvPr>
          <p:cNvSpPr txBox="1"/>
          <p:nvPr/>
        </p:nvSpPr>
        <p:spPr>
          <a:xfrm>
            <a:off x="6172200" y="2400300"/>
            <a:ext cx="3149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00D4FF"/>
                </a:solidFill>
              </a:rPr>
              <a:t>TABLA DE DIMENSIÓN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7529358-0287-4A45-B03F-9DE39F8651E1}"/>
              </a:ext>
            </a:extLst>
          </p:cNvPr>
          <p:cNvSpPr txBox="1"/>
          <p:nvPr/>
        </p:nvSpPr>
        <p:spPr>
          <a:xfrm>
            <a:off x="6172200" y="2628900"/>
            <a:ext cx="314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b="1">
                <a:solidFill>
                  <a:srgbClr val="FFFFFF"/>
                </a:solidFill>
                <a:latin typeface="Aptos"/>
              </a:rPr>
              <a:t>catalog_clean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6644851-A78C-419B-8FF4-D266E89EF650}"/>
              </a:ext>
            </a:extLst>
          </p:cNvPr>
          <p:cNvSpPr txBox="1"/>
          <p:nvPr/>
        </p:nvSpPr>
        <p:spPr>
          <a:xfrm>
            <a:off x="6172200" y="2984500"/>
            <a:ext cx="3149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i="1">
                <a:solidFill>
                  <a:srgbClr val="AAB6CC"/>
                </a:solidFill>
              </a:rPr>
              <a:t>50 filas · atributos del producto</a:t>
            </a:r>
            <a:endParaRPr lang="es-UY" sz="1100" i="1">
              <a:solidFill>
                <a:srgbClr val="AAB6CC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6D8B163-EF2E-40B5-8DF1-8AFF098C1C2E}"/>
              </a:ext>
            </a:extLst>
          </p:cNvPr>
          <p:cNvSpPr txBox="1"/>
          <p:nvPr/>
        </p:nvSpPr>
        <p:spPr>
          <a:xfrm>
            <a:off x="6172200" y="32639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product_id (PK)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7BE0F5E-3554-49C7-8524-50A3C9FADF48}"/>
              </a:ext>
            </a:extLst>
          </p:cNvPr>
          <p:cNvSpPr txBox="1"/>
          <p:nvPr/>
        </p:nvSpPr>
        <p:spPr>
          <a:xfrm>
            <a:off x="6172200" y="34544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product_name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2AB3D37-15CC-4E18-880E-48DE6847BC0F}"/>
              </a:ext>
            </a:extLst>
          </p:cNvPr>
          <p:cNvSpPr txBox="1"/>
          <p:nvPr/>
        </p:nvSpPr>
        <p:spPr>
          <a:xfrm>
            <a:off x="6172200" y="36449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category_name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F8AC3E7-F7AB-45F4-A898-BADC98BAA674}"/>
              </a:ext>
            </a:extLst>
          </p:cNvPr>
          <p:cNvSpPr txBox="1"/>
          <p:nvPr/>
        </p:nvSpPr>
        <p:spPr>
          <a:xfrm>
            <a:off x="6172200" y="38354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nutriscore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56E6550-9460-435E-A84D-0360F7EC99AD}"/>
              </a:ext>
            </a:extLst>
          </p:cNvPr>
          <p:cNvSpPr txBox="1"/>
          <p:nvPr/>
        </p:nvSpPr>
        <p:spPr>
          <a:xfrm>
            <a:off x="6172200" y="40259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calories_100g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BEEE3BD-D4F0-49BD-862C-2BE51A201D38}"/>
              </a:ext>
            </a:extLst>
          </p:cNvPr>
          <p:cNvSpPr txBox="1"/>
          <p:nvPr/>
        </p:nvSpPr>
        <p:spPr>
          <a:xfrm>
            <a:off x="6172200" y="4216400"/>
            <a:ext cx="314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>
                <a:solidFill>
                  <a:srgbClr val="E8EEF7"/>
                </a:solidFill>
                <a:latin typeface="Aptos"/>
              </a:rPr>
              <a:t>▸ proteins · carbs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4BB4C95-F625-443F-9B81-48027EB48F3F}"/>
              </a:ext>
            </a:extLst>
          </p:cNvPr>
          <p:cNvSpPr/>
          <p:nvPr/>
        </p:nvSpPr>
        <p:spPr>
          <a:xfrm>
            <a:off x="762000" y="4699000"/>
            <a:ext cx="5207000" cy="16510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45BE35A-21BE-4E70-AD5B-A6B605ACE439}"/>
              </a:ext>
            </a:extLst>
          </p:cNvPr>
          <p:cNvSpPr/>
          <p:nvPr/>
        </p:nvSpPr>
        <p:spPr>
          <a:xfrm>
            <a:off x="762000" y="4699000"/>
            <a:ext cx="50800" cy="16510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C777191-0704-4B50-8DCA-DC57F36321F7}"/>
              </a:ext>
            </a:extLst>
          </p:cNvPr>
          <p:cNvSpPr txBox="1"/>
          <p:nvPr/>
        </p:nvSpPr>
        <p:spPr>
          <a:xfrm>
            <a:off x="990600" y="4876800"/>
            <a:ext cx="4749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00E5A0"/>
                </a:solidFill>
              </a:rPr>
              <a:t>MATERIALIZACIÓN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E6C971C-72D3-423D-AA82-2F426DE64ED3}"/>
              </a:ext>
            </a:extLst>
          </p:cNvPr>
          <p:cNvSpPr txBox="1"/>
          <p:nvPr/>
        </p:nvSpPr>
        <p:spPr>
          <a:xfrm>
            <a:off x="990600" y="5105400"/>
            <a:ext cx="4749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inventory_v1.csv (denormalizado)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ADAD3DD-3AE1-49C1-B022-A3F757A0A8FA}"/>
              </a:ext>
            </a:extLst>
          </p:cNvPr>
          <p:cNvSpPr txBox="1"/>
          <p:nvPr/>
        </p:nvSpPr>
        <p:spPr>
          <a:xfrm>
            <a:off x="990600" y="5410200"/>
            <a:ext cx="47498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AAB6CC"/>
                </a:solidFill>
              </a:rPr>
              <a:t>Join materializado en una tabla · 25,819 × 17 con tipos validados · simplifica conexión inicial y elimina ambigüedades en filtros y cálculos.</a:t>
            </a:r>
            <a:endParaRPr lang="es-UY" sz="1100">
              <a:solidFill>
                <a:srgbClr val="AAB6CC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93887F2-761C-4CFE-82EF-ADE15D48A120}"/>
              </a:ext>
            </a:extLst>
          </p:cNvPr>
          <p:cNvSpPr/>
          <p:nvPr/>
        </p:nvSpPr>
        <p:spPr>
          <a:xfrm>
            <a:off x="6223000" y="4699000"/>
            <a:ext cx="5207000" cy="16510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389C8B8-25A2-4A80-B2FB-B28528E4683D}"/>
              </a:ext>
            </a:extLst>
          </p:cNvPr>
          <p:cNvSpPr/>
          <p:nvPr/>
        </p:nvSpPr>
        <p:spPr>
          <a:xfrm>
            <a:off x="6223000" y="4699000"/>
            <a:ext cx="50800" cy="1651000"/>
          </a:xfrm>
          <a:prstGeom prst="rect">
            <a:avLst/>
          </a:prstGeom>
          <a:solidFill>
            <a:srgbClr val="5BA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F198D5A-2FBE-4CF8-85A3-F9AD45B535F8}"/>
              </a:ext>
            </a:extLst>
          </p:cNvPr>
          <p:cNvSpPr txBox="1"/>
          <p:nvPr/>
        </p:nvSpPr>
        <p:spPr>
          <a:xfrm>
            <a:off x="6451600" y="4876800"/>
            <a:ext cx="4749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000" b="1">
                <a:solidFill>
                  <a:srgbClr val="5BA4FF"/>
                </a:solidFill>
              </a:rPr>
              <a:t>CONEXIÓN TABLEAU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54EC842-E23C-493D-B03A-0B14A2E45389}"/>
              </a:ext>
            </a:extLst>
          </p:cNvPr>
          <p:cNvSpPr txBox="1"/>
          <p:nvPr/>
        </p:nvSpPr>
        <p:spPr>
          <a:xfrm>
            <a:off x="6451600" y="5105400"/>
            <a:ext cx="4749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b="1">
                <a:solidFill>
                  <a:srgbClr val="FFFFFF"/>
                </a:solidFill>
              </a:rPr>
              <a:t>Text File · sin conversiones manuales</a:t>
            </a:r>
            <a:endParaRPr lang="es-UY" sz="1400" b="1">
              <a:solidFill>
                <a:srgbClr val="FFFFFF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864AE3B-5054-412E-BBEE-8B96C2B3E128}"/>
              </a:ext>
            </a:extLst>
          </p:cNvPr>
          <p:cNvSpPr txBox="1"/>
          <p:nvPr/>
        </p:nvSpPr>
        <p:spPr>
          <a:xfrm>
            <a:off x="6451600" y="5410200"/>
            <a:ext cx="47498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>
                <a:solidFill>
                  <a:srgbClr val="AAB6CC"/>
                </a:solidFill>
              </a:rPr>
              <a:t>Number (whole) · Date &amp; Time · String · Number (decimal) — detectados automáticamente gracias al cast explícito en el pipeline.</a:t>
            </a:r>
            <a:endParaRPr lang="es-UY" sz="1100">
              <a:solidFill>
                <a:srgbClr val="AAB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83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C037C0-0BD5-4EDA-BC8B-8786A1BDF84E}"/>
              </a:ext>
            </a:extLst>
          </p:cNvPr>
          <p:cNvSpPr txBox="1"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200" b="1">
                <a:solidFill>
                  <a:srgbClr val="00D4FF"/>
                </a:solidFill>
              </a:rPr>
              <a:t>CIERRE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69AC8B-187C-463C-9613-55AAE013B520}"/>
              </a:ext>
            </a:extLst>
          </p:cNvPr>
          <p:cNvSpPr txBox="1"/>
          <p:nvPr/>
        </p:nvSpPr>
        <p:spPr>
          <a:xfrm>
            <a:off x="762000" y="9525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3200" b="1">
                <a:solidFill>
                  <a:srgbClr val="FFFFFF"/>
                </a:solidFill>
                <a:latin typeface="Aptos Display"/>
              </a:rPr>
              <a:t>Criterios mínimos · cumplidos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B2E3A9-112A-440E-83E6-32317E28C56C}"/>
              </a:ext>
            </a:extLst>
          </p:cNvPr>
          <p:cNvSpPr/>
          <p:nvPr/>
        </p:nvSpPr>
        <p:spPr>
          <a:xfrm>
            <a:off x="762000" y="1625600"/>
            <a:ext cx="762000" cy="38100"/>
          </a:xfrm>
          <a:prstGeom prst="rect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6ADE0AD-0F5F-4F04-B4CE-C325B62756D3}"/>
              </a:ext>
            </a:extLst>
          </p:cNvPr>
          <p:cNvSpPr/>
          <p:nvPr/>
        </p:nvSpPr>
        <p:spPr>
          <a:xfrm>
            <a:off x="762000" y="2032000"/>
            <a:ext cx="10668000" cy="6223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3C0046D-68C5-43A9-B47D-A30061E7E7A6}"/>
              </a:ext>
            </a:extLst>
          </p:cNvPr>
          <p:cNvSpPr/>
          <p:nvPr/>
        </p:nvSpPr>
        <p:spPr>
          <a:xfrm>
            <a:off x="990600" y="2133600"/>
            <a:ext cx="419100" cy="419100"/>
          </a:xfrm>
          <a:prstGeom prst="ellipse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UY" b="1">
                <a:solidFill>
                  <a:srgbClr val="0B1220"/>
                </a:solidFill>
              </a:rPr>
              <a:t>✓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40E57D-3875-4D4A-81C1-53BED98CB8B1}"/>
              </a:ext>
            </a:extLst>
          </p:cNvPr>
          <p:cNvSpPr txBox="1"/>
          <p:nvPr/>
        </p:nvSpPr>
        <p:spPr>
          <a:xfrm>
            <a:off x="1651000" y="21082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400" b="1">
                <a:solidFill>
                  <a:srgbClr val="FFFFFF"/>
                </a:solidFill>
              </a:rPr>
              <a:t>Unidad de análisis documentada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52928F1-19D2-480D-8E64-73003E9824BC}"/>
              </a:ext>
            </a:extLst>
          </p:cNvPr>
          <p:cNvSpPr txBox="1"/>
          <p:nvPr/>
        </p:nvSpPr>
        <p:spPr>
          <a:xfrm>
            <a:off x="1651000" y="237490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i="1">
                <a:solidFill>
                  <a:srgbClr val="AAB6CC"/>
                </a:solidFill>
              </a:rPr>
              <a:t>1 fila = 1 evento de movimiento (IN/OUT) · slide 03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40A5BE1-08C4-41E5-9BF2-1D985A82B388}"/>
              </a:ext>
            </a:extLst>
          </p:cNvPr>
          <p:cNvSpPr/>
          <p:nvPr/>
        </p:nvSpPr>
        <p:spPr>
          <a:xfrm>
            <a:off x="762000" y="2730500"/>
            <a:ext cx="10668000" cy="6223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4ADEE17-F1D2-46E9-A94A-5B3D90046847}"/>
              </a:ext>
            </a:extLst>
          </p:cNvPr>
          <p:cNvSpPr/>
          <p:nvPr/>
        </p:nvSpPr>
        <p:spPr>
          <a:xfrm>
            <a:off x="990600" y="2832100"/>
            <a:ext cx="419100" cy="419100"/>
          </a:xfrm>
          <a:prstGeom prst="ellipse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UY" b="1">
                <a:solidFill>
                  <a:srgbClr val="0B1220"/>
                </a:solidFill>
              </a:rPr>
              <a:t>✓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7A6E0BB-0143-4FBF-8D5A-FD8211920E83}"/>
              </a:ext>
            </a:extLst>
          </p:cNvPr>
          <p:cNvSpPr txBox="1"/>
          <p:nvPr/>
        </p:nvSpPr>
        <p:spPr>
          <a:xfrm>
            <a:off x="1651000" y="28067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b="1">
                <a:solidFill>
                  <a:srgbClr val="FFFFFF"/>
                </a:solidFill>
              </a:rPr>
              <a:t>Nulos, cardinalidad, duplicados y campos críticos</a:t>
            </a:r>
            <a:endParaRPr lang="es-UY" sz="1400" b="1">
              <a:solidFill>
                <a:srgbClr val="FFFFFF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AAFB08F-B02C-46F7-9375-DCE60CB24595}"/>
              </a:ext>
            </a:extLst>
          </p:cNvPr>
          <p:cNvSpPr txBox="1"/>
          <p:nvPr/>
        </p:nvSpPr>
        <p:spPr>
          <a:xfrm>
            <a:off x="1651000" y="307340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i="1">
                <a:solidFill>
                  <a:srgbClr val="AAB6CC"/>
                </a:solidFill>
              </a:rPr>
              <a:t>Tablas de perfilado por columna · slide 04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6C07A77-C439-4EAE-8D4C-858DB1C55039}"/>
              </a:ext>
            </a:extLst>
          </p:cNvPr>
          <p:cNvSpPr/>
          <p:nvPr/>
        </p:nvSpPr>
        <p:spPr>
          <a:xfrm>
            <a:off x="762000" y="3429000"/>
            <a:ext cx="10668000" cy="6223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0E738E4-0006-4454-97D1-DD2B4B487E1A}"/>
              </a:ext>
            </a:extLst>
          </p:cNvPr>
          <p:cNvSpPr/>
          <p:nvPr/>
        </p:nvSpPr>
        <p:spPr>
          <a:xfrm>
            <a:off x="990600" y="3530600"/>
            <a:ext cx="419100" cy="419100"/>
          </a:xfrm>
          <a:prstGeom prst="ellipse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UY" b="1">
                <a:solidFill>
                  <a:srgbClr val="0B1220"/>
                </a:solidFill>
              </a:rPr>
              <a:t>✓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5896DC-FDB9-46B0-9EAD-C0553BAED0BF}"/>
              </a:ext>
            </a:extLst>
          </p:cNvPr>
          <p:cNvSpPr txBox="1"/>
          <p:nvPr/>
        </p:nvSpPr>
        <p:spPr>
          <a:xfrm>
            <a:off x="1651000" y="35052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b="1">
                <a:solidFill>
                  <a:srgbClr val="FFFFFF"/>
                </a:solidFill>
              </a:rPr>
              <a:t>≥ 1 decisión de limpieza por tipo de problema</a:t>
            </a:r>
            <a:endParaRPr lang="es-UY" sz="1400" b="1">
              <a:solidFill>
                <a:srgbClr val="FFFFFF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70F6BD-182B-48E5-A4A9-78259DC7FEA0}"/>
              </a:ext>
            </a:extLst>
          </p:cNvPr>
          <p:cNvSpPr txBox="1"/>
          <p:nvPr/>
        </p:nvSpPr>
        <p:spPr>
          <a:xfrm>
            <a:off x="1651000" y="377190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i="1">
                <a:solidFill>
                  <a:srgbClr val="AAB6CC"/>
                </a:solidFill>
              </a:rPr>
              <a:t>6 problemas → 6 reglas con efecto cuantificado · slides 05–06</a:t>
            </a:r>
            <a:endParaRPr lang="es-UY" sz="1100" i="1">
              <a:solidFill>
                <a:srgbClr val="AAB6CC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628C8A6-B716-4171-9D13-11A6115821AC}"/>
              </a:ext>
            </a:extLst>
          </p:cNvPr>
          <p:cNvSpPr/>
          <p:nvPr/>
        </p:nvSpPr>
        <p:spPr>
          <a:xfrm>
            <a:off x="762000" y="4127500"/>
            <a:ext cx="10668000" cy="6223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B109A72-3E52-4E17-9DAA-96E6AB478951}"/>
              </a:ext>
            </a:extLst>
          </p:cNvPr>
          <p:cNvSpPr/>
          <p:nvPr/>
        </p:nvSpPr>
        <p:spPr>
          <a:xfrm>
            <a:off x="990600" y="4229100"/>
            <a:ext cx="419100" cy="419100"/>
          </a:xfrm>
          <a:prstGeom prst="ellipse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UY" b="1">
                <a:solidFill>
                  <a:srgbClr val="0B1220"/>
                </a:solidFill>
              </a:rPr>
              <a:t>✓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45BAD67-068B-4C7D-9FF9-3E9F5015DCBE}"/>
              </a:ext>
            </a:extLst>
          </p:cNvPr>
          <p:cNvSpPr txBox="1"/>
          <p:nvPr/>
        </p:nvSpPr>
        <p:spPr>
          <a:xfrm>
            <a:off x="1651000" y="42037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b="1">
                <a:solidFill>
                  <a:srgbClr val="FFFFFF"/>
                </a:solidFill>
              </a:rPr>
              <a:t>Dataset conectable a Tableau sin ambigüedad</a:t>
            </a:r>
            <a:endParaRPr lang="es-UY" sz="1400" b="1">
              <a:solidFill>
                <a:srgbClr val="FFFFFF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DF4668D-C8FA-4538-A77E-E7082EAE2E7D}"/>
              </a:ext>
            </a:extLst>
          </p:cNvPr>
          <p:cNvSpPr txBox="1"/>
          <p:nvPr/>
        </p:nvSpPr>
        <p:spPr>
          <a:xfrm>
            <a:off x="1651000" y="447040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i="1">
                <a:solidFill>
                  <a:srgbClr val="AAB6CC"/>
                </a:solidFill>
              </a:rPr>
              <a:t>inventory_v1.csv · cast explícito · auto-detección · slide 08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8DAAC54-5ADC-4444-9507-8E303A05BCDE}"/>
              </a:ext>
            </a:extLst>
          </p:cNvPr>
          <p:cNvSpPr/>
          <p:nvPr/>
        </p:nvSpPr>
        <p:spPr>
          <a:xfrm>
            <a:off x="762000" y="4826000"/>
            <a:ext cx="10668000" cy="622300"/>
          </a:xfrm>
          <a:prstGeom prst="rect">
            <a:avLst/>
          </a:prstGeom>
          <a:solidFill>
            <a:srgbClr val="1A24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FF45A6B-1005-47AC-A85E-08E6C04109FA}"/>
              </a:ext>
            </a:extLst>
          </p:cNvPr>
          <p:cNvSpPr/>
          <p:nvPr/>
        </p:nvSpPr>
        <p:spPr>
          <a:xfrm>
            <a:off x="990600" y="4927600"/>
            <a:ext cx="419100" cy="419100"/>
          </a:xfrm>
          <a:prstGeom prst="ellipse">
            <a:avLst/>
          </a:prstGeom>
          <a:solidFill>
            <a:srgbClr val="00E5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UY" b="1">
                <a:solidFill>
                  <a:srgbClr val="0B1220"/>
                </a:solidFill>
              </a:rPr>
              <a:t>✓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E57EE06-DA01-4826-A5BE-BF62DEC99B4A}"/>
              </a:ext>
            </a:extLst>
          </p:cNvPr>
          <p:cNvSpPr txBox="1"/>
          <p:nvPr/>
        </p:nvSpPr>
        <p:spPr>
          <a:xfrm>
            <a:off x="1651000" y="49022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Bitácora distingue original vs transformado</a:t>
            </a:r>
            <a:endParaRPr lang="es-UY" sz="1400" b="1">
              <a:solidFill>
                <a:srgbClr val="FFFFFF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DEE18CB-A3ED-46A9-9E35-8295396B5CBC}"/>
              </a:ext>
            </a:extLst>
          </p:cNvPr>
          <p:cNvSpPr txBox="1"/>
          <p:nvPr/>
        </p:nvSpPr>
        <p:spPr>
          <a:xfrm>
            <a:off x="1651000" y="5168900"/>
            <a:ext cx="965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UY" sz="1100" i="1">
                <a:solidFill>
                  <a:srgbClr val="AAB6CC"/>
                </a:solidFill>
              </a:rPr>
              <a:t>5 entradas fechadas + transformations_log.json · slide 07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F44F8F2-0D08-4AD7-B3CB-BB6CF3149D40}"/>
              </a:ext>
            </a:extLst>
          </p:cNvPr>
          <p:cNvSpPr/>
          <p:nvPr/>
        </p:nvSpPr>
        <p:spPr>
          <a:xfrm>
            <a:off x="762000" y="5842000"/>
            <a:ext cx="10668000" cy="635000"/>
          </a:xfrm>
          <a:prstGeom prst="rect">
            <a:avLst/>
          </a:prstGeom>
          <a:solidFill>
            <a:srgbClr val="0F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396EE20-6C33-4EB6-BF50-6CFF1FF1967E}"/>
              </a:ext>
            </a:extLst>
          </p:cNvPr>
          <p:cNvSpPr/>
          <p:nvPr/>
        </p:nvSpPr>
        <p:spPr>
          <a:xfrm>
            <a:off x="762000" y="5842000"/>
            <a:ext cx="50800" cy="635000"/>
          </a:xfrm>
          <a:prstGeom prst="rect">
            <a:avLst/>
          </a:prstGeom>
          <a:solidFill>
            <a:srgbClr val="00D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UY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1380D04-CFC3-44E8-9558-D50DC7083950}"/>
              </a:ext>
            </a:extLst>
          </p:cNvPr>
          <p:cNvSpPr txBox="1"/>
          <p:nvPr/>
        </p:nvSpPr>
        <p:spPr>
          <a:xfrm>
            <a:off x="1016000" y="5842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400" i="1">
                <a:solidFill>
                  <a:srgbClr val="FFFFFF"/>
                </a:solidFill>
              </a:rPr>
              <a:t>Próximo paso → Entrega 3: enriquecer perfil nutricional, PCA y primeros dashboards en Tableau.</a:t>
            </a:r>
            <a:endParaRPr lang="es-UY" sz="1400" i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0762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7745209866]">
  <a:themeElements>
    <a:clrScheme name="Office">
      <a:dk1>
        <a:srgbClr val="E8EEF7"/>
      </a:dk1>
      <a:lt1>
        <a:srgbClr val="0B1220"/>
      </a:lt1>
      <a:dk2>
        <a:srgbClr val="AAB6CC"/>
      </a:dk2>
      <a:lt2>
        <a:srgbClr val="1A2436"/>
      </a:lt2>
      <a:accent1>
        <a:srgbClr val="00D4FF"/>
      </a:accent1>
      <a:accent2>
        <a:srgbClr val="7C5CFF"/>
      </a:accent2>
      <a:accent3>
        <a:srgbClr val="00E5A0"/>
      </a:accent3>
      <a:accent4>
        <a:srgbClr val="FFB020"/>
      </a:accent4>
      <a:accent5>
        <a:srgbClr val="FF5577"/>
      </a:accent5>
      <a:accent6>
        <a:srgbClr val="5BA4FF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5BC52D-08B4-4C12-ABC8-C7BC543C78E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8443f56-7260-4ac3-820d-531ff02c59c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1241</Words>
  <Application>Microsoft Office PowerPoint</Application>
  <PresentationFormat>Panorámica</PresentationFormat>
  <Paragraphs>240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 [1777745209866]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Favio Arroyo Gamarra</dc:creator>
  <cp:lastModifiedBy>u202126097 (Reyna Alvarado, Gabriel Alonso)</cp:lastModifiedBy>
  <cp:revision>2</cp:revision>
  <dcterms:created xsi:type="dcterms:W3CDTF">2026-05-02T17:43:50Z</dcterms:created>
  <dcterms:modified xsi:type="dcterms:W3CDTF">2026-05-02T23:40:42Z</dcterms:modified>
</cp:coreProperties>
</file>