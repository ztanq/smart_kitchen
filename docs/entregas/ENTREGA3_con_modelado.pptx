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23"/>
    <p:sldId id="269" r:id="rId24"/>
    <p:sldId id="270" r:id="rId25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0"/>
    </p:embeddedFont>
    <p:embeddedFont>
      <p:font typeface="Source Sans Pro Bold" charset="1" panose="020B0703030403020204"/>
      <p:regular r:id="rId21"/>
    </p:embeddedFont>
    <p:embeddedFont>
      <p:font typeface="Source Sans Pro" charset="1" panose="020B05030304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5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0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4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23" r="0" b="-246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47942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2100" b="true">
                  <a:solidFill>
                    <a:srgbClr val="C56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ENTREGA 3</a:t>
              </a:r>
            </a:p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Limpieza y preparación de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601200"/>
            <a:ext cx="6096000" cy="152400"/>
            <a:chOff x="0" y="0"/>
            <a:chExt cx="8128000" cy="20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F6B4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96000" y="9601200"/>
            <a:ext cx="1828800" cy="152400"/>
            <a:chOff x="0" y="0"/>
            <a:chExt cx="2438400" cy="20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" cy="203200"/>
            </a:xfrm>
            <a:custGeom>
              <a:avLst/>
              <a:gdLst/>
              <a:ahLst/>
              <a:cxnLst/>
              <a:rect r="r" b="b" t="t" l="l"/>
              <a:pathLst>
                <a:path h="203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C56A3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764000" y="457200"/>
            <a:ext cx="609600" cy="6096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C56A3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7440" y="5420201"/>
            <a:ext cx="13533120" cy="242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3F6B4E"/>
                </a:solidFill>
                <a:latin typeface="Calibri (MS)"/>
                <a:ea typeface="Calibri (MS)"/>
                <a:cs typeface="Calibri (MS)"/>
                <a:sym typeface="Calibri (MS)"/>
              </a:rPr>
              <a:t>Smart Kitchen Intelligence (SKI)</a:t>
            </a:r>
          </a:p>
          <a:p>
            <a:pPr algn="l">
              <a:lnSpc>
                <a:spcPts val="2430"/>
              </a:lnSpc>
            </a:pP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Data Visualization — UPC, Ciclo 2026-I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del proyecto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48740" y="2774633"/>
            <a:ext cx="15590520" cy="644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Entregas previas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b="true" sz="2250">
                <a:solidFill>
                  <a:srgbClr val="1F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E1 — </a:t>
            </a: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Propuesta SKI: analítica visual de gestión de alimentos en hogar (Tableau).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b="true" sz="2250">
                <a:solidFill>
                  <a:srgbClr val="1F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E2 — </a:t>
            </a: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Perfilado, diccionario y 6 problemas de calidad (P1–P6) con reglas verificables.</a:t>
            </a:r>
          </a:p>
          <a:p>
            <a:pPr algn="l" marL="434340" indent="-217170" lvl="1">
              <a:lnSpc>
                <a:spcPts val="2592"/>
              </a:lnSpc>
            </a:pPr>
            <a:r>
              <a:rPr lang="en-US" b="true" sz="2400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Esquema v2 — multi-hogar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De 1,000 → </a:t>
            </a:r>
            <a:r>
              <a:rPr lang="en-US" b="true" sz="2250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25,819 eventos</a:t>
            </a: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; nuevas dimensiones: household_id, stock_id, quantity, classification.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Cobertura: </a:t>
            </a:r>
            <a:r>
              <a:rPr lang="en-US" b="true" sz="2250">
                <a:solidFill>
                  <a:srgbClr val="1F2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hogares × 90 días</a:t>
            </a: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 (01-feb a 01-may 2026).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Pipeline: </a:t>
            </a:r>
            <a:r>
              <a:rPr lang="en-US" sz="2250" i="true">
                <a:solidFill>
                  <a:srgbClr val="1F2A3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notebooks/02_limpieza.ipynb</a:t>
            </a:r>
            <a:r>
              <a:rPr lang="en-US" sz="22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 + Polars / Pandas.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 — 5 líneas de limpieza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" y="3048000"/>
            <a:ext cx="914400" cy="914400"/>
            <a:chOff x="0" y="0"/>
            <a:chExt cx="12192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F6B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4000" y="4267200"/>
            <a:ext cx="914400" cy="914400"/>
            <a:chOff x="0" y="0"/>
            <a:chExt cx="1219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56A3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4000" y="5486400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F6B4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000" y="6705600"/>
            <a:ext cx="914400" cy="914400"/>
            <a:chOff x="0" y="0"/>
            <a:chExt cx="1219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C5A3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24000" y="7924800"/>
            <a:ext cx="914400" cy="914400"/>
            <a:chOff x="0" y="0"/>
            <a:chExt cx="12192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5C8AA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910840" y="3074670"/>
            <a:ext cx="142951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Tratamiento de nulos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10840" y="3569970"/>
            <a:ext cx="142951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Codificados + estructurales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10840" y="4293870"/>
            <a:ext cx="142951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Homologación de categorías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10840" y="4789170"/>
            <a:ext cx="142951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dept_id → category_name + location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10840" y="5513070"/>
            <a:ext cx="142951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Corrección de tipos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10840" y="6008370"/>
            <a:ext cx="142951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Cast explícito Int / Date / Categorical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10840" y="6732270"/>
            <a:ext cx="142951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de duplicados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10840" y="7227570"/>
            <a:ext cx="142951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3 niveles de unicidad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10840" y="7951470"/>
            <a:ext cx="142951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Bitácora de transformaciones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10840" y="8446770"/>
            <a:ext cx="1429512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5A5A5A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 cuantitativa + narrativa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 inicial vs estado final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2500" y="2667000"/>
          <a:ext cx="16383000" cy="6000750"/>
        </p:xfrm>
        <a:graphic>
          <a:graphicData uri="http://schemas.openxmlformats.org/drawingml/2006/table">
            <a:tbl>
              <a:tblPr/>
              <a:tblGrid>
                <a:gridCol w="3810000"/>
                <a:gridCol w="6096000"/>
                <a:gridCol w="6477000"/>
              </a:tblGrid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Aspecto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Dato original (raw)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Dato transformado (interim)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Catálogo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50 productos × 7 columnas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50 productos × 7 columnas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Movimientos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25,819 eventos × 10 columnas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25,819 eventos × 10 columnas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Dataset analítico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(no existe)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inventory_v1.csv — 25,819 × 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Tipos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String / numérico inferido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Int64, Datetime, Date, Categorical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Integridad ref.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Sin validar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100% verificada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F2A30"/>
                          </a:solidFill>
                          <a:latin typeface="Source Sans Pro Bold"/>
                          <a:ea typeface="Source Sans Pro Bold"/>
                          <a:cs typeface="Source Sans Pro Bold"/>
                          <a:sym typeface="Source Sans Pro Bold"/>
                        </a:rPr>
                        <a:t>Cobertura temporal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01-feb a 01-may (90 días)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3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Igual, preservada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Tratamiento de nulos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975" y="2466975"/>
            <a:ext cx="8115300" cy="5353050"/>
            <a:chOff x="0" y="0"/>
            <a:chExt cx="10820400" cy="713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0795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400" cy="7137400"/>
            </a:xfrm>
            <a:custGeom>
              <a:avLst/>
              <a:gdLst/>
              <a:ahLst/>
              <a:cxnLst/>
              <a:rect r="r" b="b" t="t" l="l"/>
              <a:pathLst>
                <a:path h="7137400" w="10820400">
                  <a:moveTo>
                    <a:pt x="12700" y="0"/>
                  </a:moveTo>
                  <a:lnTo>
                    <a:pt x="10807700" y="0"/>
                  </a:lnTo>
                  <a:cubicBezTo>
                    <a:pt x="10814685" y="0"/>
                    <a:pt x="10820400" y="5715"/>
                    <a:pt x="10820400" y="12700"/>
                  </a:cubicBezTo>
                  <a:lnTo>
                    <a:pt x="10820400" y="7124700"/>
                  </a:lnTo>
                  <a:cubicBezTo>
                    <a:pt x="10820400" y="7131685"/>
                    <a:pt x="10814685" y="7137400"/>
                    <a:pt x="10807700" y="7137400"/>
                  </a:cubicBezTo>
                  <a:lnTo>
                    <a:pt x="12700" y="7137400"/>
                  </a:lnTo>
                  <a:cubicBezTo>
                    <a:pt x="5715" y="7137400"/>
                    <a:pt x="0" y="7131685"/>
                    <a:pt x="0" y="712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124700"/>
                  </a:lnTo>
                  <a:lnTo>
                    <a:pt x="12700" y="7124700"/>
                  </a:lnTo>
                  <a:lnTo>
                    <a:pt x="12700" y="7112000"/>
                  </a:lnTo>
                  <a:lnTo>
                    <a:pt x="10807700" y="7112000"/>
                  </a:lnTo>
                  <a:lnTo>
                    <a:pt x="10807700" y="7124700"/>
                  </a:lnTo>
                  <a:lnTo>
                    <a:pt x="10795000" y="7124700"/>
                  </a:lnTo>
                  <a:lnTo>
                    <a:pt x="10795000" y="12700"/>
                  </a:lnTo>
                  <a:lnTo>
                    <a:pt x="10807700" y="12700"/>
                  </a:lnTo>
                  <a:lnTo>
                    <a:pt x="10807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0" y="2476500"/>
            <a:ext cx="152400" cy="5334000"/>
            <a:chOff x="0" y="0"/>
            <a:chExt cx="203200" cy="711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C56A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29725" y="2466975"/>
            <a:ext cx="8115300" cy="5353050"/>
            <a:chOff x="0" y="0"/>
            <a:chExt cx="10820400" cy="713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0795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20400" cy="7137400"/>
            </a:xfrm>
            <a:custGeom>
              <a:avLst/>
              <a:gdLst/>
              <a:ahLst/>
              <a:cxnLst/>
              <a:rect r="r" b="b" t="t" l="l"/>
              <a:pathLst>
                <a:path h="7137400" w="10820400">
                  <a:moveTo>
                    <a:pt x="12700" y="0"/>
                  </a:moveTo>
                  <a:lnTo>
                    <a:pt x="10807700" y="0"/>
                  </a:lnTo>
                  <a:cubicBezTo>
                    <a:pt x="10814685" y="0"/>
                    <a:pt x="10820400" y="5715"/>
                    <a:pt x="10820400" y="12700"/>
                  </a:cubicBezTo>
                  <a:lnTo>
                    <a:pt x="10820400" y="7124700"/>
                  </a:lnTo>
                  <a:cubicBezTo>
                    <a:pt x="10820400" y="7131685"/>
                    <a:pt x="10814685" y="7137400"/>
                    <a:pt x="10807700" y="7137400"/>
                  </a:cubicBezTo>
                  <a:lnTo>
                    <a:pt x="12700" y="7137400"/>
                  </a:lnTo>
                  <a:cubicBezTo>
                    <a:pt x="5715" y="7137400"/>
                    <a:pt x="0" y="7131685"/>
                    <a:pt x="0" y="712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124700"/>
                  </a:lnTo>
                  <a:lnTo>
                    <a:pt x="12700" y="7124700"/>
                  </a:lnTo>
                  <a:lnTo>
                    <a:pt x="12700" y="7112000"/>
                  </a:lnTo>
                  <a:lnTo>
                    <a:pt x="10807700" y="7112000"/>
                  </a:lnTo>
                  <a:lnTo>
                    <a:pt x="10807700" y="7124700"/>
                  </a:lnTo>
                  <a:lnTo>
                    <a:pt x="10795000" y="7124700"/>
                  </a:lnTo>
                  <a:lnTo>
                    <a:pt x="10795000" y="12700"/>
                  </a:lnTo>
                  <a:lnTo>
                    <a:pt x="10807700" y="12700"/>
                  </a:lnTo>
                  <a:lnTo>
                    <a:pt x="10807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239250" y="2476500"/>
            <a:ext cx="152400" cy="5334000"/>
            <a:chOff x="0" y="0"/>
            <a:chExt cx="203200" cy="711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2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3F6B4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24940" y="2788920"/>
            <a:ext cx="7151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TIPO A — CODIFICADOS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4940" y="3188970"/>
            <a:ext cx="715137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Sentinel 'Falta Dato' en nutriscore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940" y="3922395"/>
            <a:ext cx="7151370" cy="357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7 productos con literal 'Falta Dato'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Rompe cardinalidad A–E y filtros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Acción: reemplazar por null (None)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Sin imputar → evita señal falsa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Tableau lo muestra como 'Sin clasificar'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1690" y="2788920"/>
            <a:ext cx="71513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TIPO B — ESTRUCTURALES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1690" y="3188970"/>
            <a:ext cx="715137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calories_100g y expiry_date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1690" y="3922395"/>
            <a:ext cx="7151370" cy="357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Mismos 7 productos sin calories_100g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Preservar como null (no imputar)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Evita sesgo en PCA / t-SNE futuro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expiry_date: 612 nulos en v1 → 0 en v2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El stock_id conserva la fecha de vencimiento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3940" y="8189595"/>
            <a:ext cx="162001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Impacto en inventory_v1: 3,576 eventos heredan nutriscore = null tras el join.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Nulos — resumen cuantitativo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975" y="2466975"/>
            <a:ext cx="5162550" cy="2114550"/>
            <a:chOff x="0" y="0"/>
            <a:chExt cx="6883400" cy="2819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34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2806700"/>
                  </a:lnTo>
                  <a:cubicBezTo>
                    <a:pt x="6883400" y="2813685"/>
                    <a:pt x="6877685" y="2819400"/>
                    <a:pt x="6870700" y="2819400"/>
                  </a:cubicBezTo>
                  <a:lnTo>
                    <a:pt x="12700" y="2819400"/>
                  </a:lnTo>
                  <a:cubicBezTo>
                    <a:pt x="5715" y="2819400"/>
                    <a:pt x="0" y="2813685"/>
                    <a:pt x="0" y="280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06700"/>
                  </a:lnTo>
                  <a:lnTo>
                    <a:pt x="12700" y="2806700"/>
                  </a:lnTo>
                  <a:lnTo>
                    <a:pt x="12700" y="2794000"/>
                  </a:lnTo>
                  <a:lnTo>
                    <a:pt x="6870700" y="2794000"/>
                  </a:lnTo>
                  <a:lnTo>
                    <a:pt x="6870700" y="2806700"/>
                  </a:lnTo>
                  <a:lnTo>
                    <a:pt x="6858000" y="2806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62725" y="2466975"/>
            <a:ext cx="5162550" cy="2114550"/>
            <a:chOff x="0" y="0"/>
            <a:chExt cx="6883400" cy="2819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34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2806700"/>
                  </a:lnTo>
                  <a:cubicBezTo>
                    <a:pt x="6883400" y="2813685"/>
                    <a:pt x="6877685" y="2819400"/>
                    <a:pt x="6870700" y="2819400"/>
                  </a:cubicBezTo>
                  <a:lnTo>
                    <a:pt x="12700" y="2819400"/>
                  </a:lnTo>
                  <a:cubicBezTo>
                    <a:pt x="5715" y="2819400"/>
                    <a:pt x="0" y="2813685"/>
                    <a:pt x="0" y="280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06700"/>
                  </a:lnTo>
                  <a:lnTo>
                    <a:pt x="12700" y="2806700"/>
                  </a:lnTo>
                  <a:lnTo>
                    <a:pt x="12700" y="2794000"/>
                  </a:lnTo>
                  <a:lnTo>
                    <a:pt x="6870700" y="2794000"/>
                  </a:lnTo>
                  <a:lnTo>
                    <a:pt x="6870700" y="2806700"/>
                  </a:lnTo>
                  <a:lnTo>
                    <a:pt x="6858000" y="2806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82475" y="2466975"/>
            <a:ext cx="5162550" cy="2114550"/>
            <a:chOff x="0" y="0"/>
            <a:chExt cx="6883400" cy="2819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6858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834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2806700"/>
                  </a:lnTo>
                  <a:cubicBezTo>
                    <a:pt x="6883400" y="2813685"/>
                    <a:pt x="6877685" y="2819400"/>
                    <a:pt x="6870700" y="2819400"/>
                  </a:cubicBezTo>
                  <a:lnTo>
                    <a:pt x="12700" y="2819400"/>
                  </a:lnTo>
                  <a:cubicBezTo>
                    <a:pt x="5715" y="2819400"/>
                    <a:pt x="0" y="2813685"/>
                    <a:pt x="0" y="2806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806700"/>
                  </a:lnTo>
                  <a:lnTo>
                    <a:pt x="12700" y="2806700"/>
                  </a:lnTo>
                  <a:lnTo>
                    <a:pt x="12700" y="2794000"/>
                  </a:lnTo>
                  <a:lnTo>
                    <a:pt x="6870700" y="2794000"/>
                  </a:lnTo>
                  <a:lnTo>
                    <a:pt x="6870700" y="2806700"/>
                  </a:lnTo>
                  <a:lnTo>
                    <a:pt x="6858000" y="2806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952500" y="4953000"/>
          <a:ext cx="16383000" cy="4114800"/>
        </p:xfrm>
        <a:graphic>
          <a:graphicData uri="http://schemas.openxmlformats.org/drawingml/2006/table">
            <a:tbl>
              <a:tblPr/>
              <a:tblGrid>
                <a:gridCol w="4191000"/>
                <a:gridCol w="4953000"/>
                <a:gridCol w="4572000"/>
                <a:gridCol w="2667000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Tipo de nulo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Conteo final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nutriscore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Codificado ('Falta Dato')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Convertir a null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3,576 eventos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calories_100g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Estructural (mismos 7 prods.)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Preservar como null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Heredado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proteins_100g / carbs_100g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 nulos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expiry_date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 nulos en v2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 (cambio de esquema)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1F2A3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dias_para_vencer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Derivada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 nulos esperados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48740" y="2665095"/>
            <a:ext cx="4351020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8740" y="3731895"/>
            <a:ext cx="43510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Productos con nutriscore null (catálogo)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8490" y="2665095"/>
            <a:ext cx="4351020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3,576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8490" y="3731895"/>
            <a:ext cx="43510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Eventos con nutriscore = null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8240" y="2665095"/>
            <a:ext cx="4351020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5C8AA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8240" y="3731895"/>
            <a:ext cx="435102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Nulos en expiry_date (v2)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Homologación de categorías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2500" y="2933700"/>
          <a:ext cx="10287000" cy="4933950"/>
        </p:xfrm>
        <a:graphic>
          <a:graphicData uri="http://schemas.openxmlformats.org/drawingml/2006/table">
            <a:tbl>
              <a:tblPr/>
              <a:tblGrid>
                <a:gridCol w="1524000"/>
                <a:gridCol w="3810000"/>
                <a:gridCol w="3048000"/>
                <a:gridCol w="1905000"/>
              </a:tblGrid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dept_id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category_name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Eventos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6A3F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Frutas y Verduras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Refrigerador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20,481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Lácteos y Refrigerados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Refrigerador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2,753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Bebidas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Estante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1,008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Panadería y Granos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Despensa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Congelados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Refrigerador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04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Despensa General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Despensa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610975" y="2924175"/>
            <a:ext cx="5734050" cy="1504950"/>
            <a:chOff x="0" y="0"/>
            <a:chExt cx="7645400" cy="2006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762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454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7645400">
                  <a:moveTo>
                    <a:pt x="12700" y="0"/>
                  </a:moveTo>
                  <a:lnTo>
                    <a:pt x="7632700" y="0"/>
                  </a:lnTo>
                  <a:cubicBezTo>
                    <a:pt x="7639685" y="0"/>
                    <a:pt x="7645400" y="5715"/>
                    <a:pt x="7645400" y="12700"/>
                  </a:cubicBezTo>
                  <a:lnTo>
                    <a:pt x="7645400" y="1993900"/>
                  </a:lnTo>
                  <a:cubicBezTo>
                    <a:pt x="7645400" y="2000885"/>
                    <a:pt x="7639685" y="2006600"/>
                    <a:pt x="7632700" y="2006600"/>
                  </a:cubicBezTo>
                  <a:lnTo>
                    <a:pt x="12700" y="2006600"/>
                  </a:lnTo>
                  <a:cubicBezTo>
                    <a:pt x="5715" y="2006600"/>
                    <a:pt x="0" y="2000885"/>
                    <a:pt x="0" y="1993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93900"/>
                  </a:lnTo>
                  <a:lnTo>
                    <a:pt x="12700" y="1993900"/>
                  </a:lnTo>
                  <a:lnTo>
                    <a:pt x="12700" y="1981200"/>
                  </a:lnTo>
                  <a:lnTo>
                    <a:pt x="7632700" y="1981200"/>
                  </a:lnTo>
                  <a:lnTo>
                    <a:pt x="7632700" y="1993900"/>
                  </a:lnTo>
                  <a:lnTo>
                    <a:pt x="7620000" y="1993900"/>
                  </a:lnTo>
                  <a:lnTo>
                    <a:pt x="7620000" y="12700"/>
                  </a:lnTo>
                  <a:lnTo>
                    <a:pt x="7632700" y="12700"/>
                  </a:lnTo>
                  <a:lnTo>
                    <a:pt x="7632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10975" y="4562475"/>
            <a:ext cx="5734050" cy="1504950"/>
            <a:chOff x="0" y="0"/>
            <a:chExt cx="7645400" cy="2006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762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454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7645400">
                  <a:moveTo>
                    <a:pt x="12700" y="0"/>
                  </a:moveTo>
                  <a:lnTo>
                    <a:pt x="7632700" y="0"/>
                  </a:lnTo>
                  <a:cubicBezTo>
                    <a:pt x="7639685" y="0"/>
                    <a:pt x="7645400" y="5715"/>
                    <a:pt x="7645400" y="12700"/>
                  </a:cubicBezTo>
                  <a:lnTo>
                    <a:pt x="7645400" y="1993900"/>
                  </a:lnTo>
                  <a:cubicBezTo>
                    <a:pt x="7645400" y="2000885"/>
                    <a:pt x="7639685" y="2006600"/>
                    <a:pt x="7632700" y="2006600"/>
                  </a:cubicBezTo>
                  <a:lnTo>
                    <a:pt x="12700" y="2006600"/>
                  </a:lnTo>
                  <a:cubicBezTo>
                    <a:pt x="5715" y="2006600"/>
                    <a:pt x="0" y="2000885"/>
                    <a:pt x="0" y="1993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93900"/>
                  </a:lnTo>
                  <a:lnTo>
                    <a:pt x="12700" y="1993900"/>
                  </a:lnTo>
                  <a:lnTo>
                    <a:pt x="12700" y="1981200"/>
                  </a:lnTo>
                  <a:lnTo>
                    <a:pt x="7632700" y="1981200"/>
                  </a:lnTo>
                  <a:lnTo>
                    <a:pt x="7632700" y="1993900"/>
                  </a:lnTo>
                  <a:lnTo>
                    <a:pt x="7620000" y="1993900"/>
                  </a:lnTo>
                  <a:lnTo>
                    <a:pt x="7620000" y="12700"/>
                  </a:lnTo>
                  <a:lnTo>
                    <a:pt x="7632700" y="12700"/>
                  </a:lnTo>
                  <a:lnTo>
                    <a:pt x="7632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0975" y="6200775"/>
            <a:ext cx="5734050" cy="1504950"/>
            <a:chOff x="0" y="0"/>
            <a:chExt cx="7645400" cy="2006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76200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45400" cy="2006600"/>
            </a:xfrm>
            <a:custGeom>
              <a:avLst/>
              <a:gdLst/>
              <a:ahLst/>
              <a:cxnLst/>
              <a:rect r="r" b="b" t="t" l="l"/>
              <a:pathLst>
                <a:path h="2006600" w="7645400">
                  <a:moveTo>
                    <a:pt x="12700" y="0"/>
                  </a:moveTo>
                  <a:lnTo>
                    <a:pt x="7632700" y="0"/>
                  </a:lnTo>
                  <a:cubicBezTo>
                    <a:pt x="7639685" y="0"/>
                    <a:pt x="7645400" y="5715"/>
                    <a:pt x="7645400" y="12700"/>
                  </a:cubicBezTo>
                  <a:lnTo>
                    <a:pt x="7645400" y="1993900"/>
                  </a:lnTo>
                  <a:cubicBezTo>
                    <a:pt x="7645400" y="2000885"/>
                    <a:pt x="7639685" y="2006600"/>
                    <a:pt x="7632700" y="2006600"/>
                  </a:cubicBezTo>
                  <a:lnTo>
                    <a:pt x="12700" y="2006600"/>
                  </a:lnTo>
                  <a:cubicBezTo>
                    <a:pt x="5715" y="2006600"/>
                    <a:pt x="0" y="2000885"/>
                    <a:pt x="0" y="1993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993900"/>
                  </a:lnTo>
                  <a:lnTo>
                    <a:pt x="12700" y="1993900"/>
                  </a:lnTo>
                  <a:lnTo>
                    <a:pt x="12700" y="1981200"/>
                  </a:lnTo>
                  <a:lnTo>
                    <a:pt x="7632700" y="1981200"/>
                  </a:lnTo>
                  <a:lnTo>
                    <a:pt x="7632700" y="1993900"/>
                  </a:lnTo>
                  <a:lnTo>
                    <a:pt x="7620000" y="1993900"/>
                  </a:lnTo>
                  <a:lnTo>
                    <a:pt x="7620000" y="12700"/>
                  </a:lnTo>
                  <a:lnTo>
                    <a:pt x="7632700" y="12700"/>
                  </a:lnTo>
                  <a:lnTo>
                    <a:pt x="7632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3940" y="2198370"/>
            <a:ext cx="162001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dept_id numérico (Instacart) → category_name en castellano + location derivada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78640" y="3103245"/>
            <a:ext cx="499872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 → categorías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78640" y="3741420"/>
            <a:ext cx="49987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Maestras en castellano, listas para Tableau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78640" y="4741545"/>
            <a:ext cx="499872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ubicaciones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8640" y="5379720"/>
            <a:ext cx="49987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Refrigerador 23,758 / Despensa 1,053 / Estante 1,008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78640" y="6379845"/>
            <a:ext cx="499872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7A9E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cobertura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78640" y="7018020"/>
            <a:ext cx="49987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0 eventos sin categoría legible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3940" y="8227695"/>
            <a:ext cx="162001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Nota: event_type (IN/OUT) se replica como action_type — alias normalizado, mismos valores.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Corrección de tipos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2857500"/>
            <a:ext cx="5334000" cy="685800"/>
            <a:chOff x="0" y="0"/>
            <a:chExt cx="71120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F6B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1120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Int64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" y="3533775"/>
            <a:ext cx="5353050" cy="5162550"/>
            <a:chOff x="0" y="0"/>
            <a:chExt cx="7137400" cy="688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711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7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6870700"/>
                  </a:lnTo>
                  <a:cubicBezTo>
                    <a:pt x="7137400" y="6877685"/>
                    <a:pt x="7131685" y="6883400"/>
                    <a:pt x="7124700" y="6883400"/>
                  </a:cubicBezTo>
                  <a:lnTo>
                    <a:pt x="12700" y="6883400"/>
                  </a:lnTo>
                  <a:cubicBezTo>
                    <a:pt x="5715" y="6883400"/>
                    <a:pt x="0" y="6877685"/>
                    <a:pt x="0" y="6870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870700"/>
                  </a:lnTo>
                  <a:lnTo>
                    <a:pt x="12700" y="6870700"/>
                  </a:lnTo>
                  <a:lnTo>
                    <a:pt x="12700" y="6858000"/>
                  </a:lnTo>
                  <a:lnTo>
                    <a:pt x="7124700" y="6858000"/>
                  </a:lnTo>
                  <a:lnTo>
                    <a:pt x="7124700" y="6870700"/>
                  </a:lnTo>
                  <a:lnTo>
                    <a:pt x="7112000" y="6870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77000" y="2857500"/>
            <a:ext cx="5334000" cy="685800"/>
            <a:chOff x="0" y="0"/>
            <a:chExt cx="71120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1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C56A3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1120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Datetime / Date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7475" y="3533775"/>
            <a:ext cx="5353050" cy="5162550"/>
            <a:chOff x="0" y="0"/>
            <a:chExt cx="7137400" cy="688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11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7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6870700"/>
                  </a:lnTo>
                  <a:cubicBezTo>
                    <a:pt x="7137400" y="6877685"/>
                    <a:pt x="7131685" y="6883400"/>
                    <a:pt x="7124700" y="6883400"/>
                  </a:cubicBezTo>
                  <a:lnTo>
                    <a:pt x="12700" y="6883400"/>
                  </a:lnTo>
                  <a:cubicBezTo>
                    <a:pt x="5715" y="6883400"/>
                    <a:pt x="0" y="6877685"/>
                    <a:pt x="0" y="6870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870700"/>
                  </a:lnTo>
                  <a:lnTo>
                    <a:pt x="12700" y="6870700"/>
                  </a:lnTo>
                  <a:lnTo>
                    <a:pt x="12700" y="6858000"/>
                  </a:lnTo>
                  <a:lnTo>
                    <a:pt x="7124700" y="6858000"/>
                  </a:lnTo>
                  <a:lnTo>
                    <a:pt x="7124700" y="6870700"/>
                  </a:lnTo>
                  <a:lnTo>
                    <a:pt x="7112000" y="6870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0" y="2857500"/>
            <a:ext cx="5334000" cy="685800"/>
            <a:chOff x="0" y="0"/>
            <a:chExt cx="71120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5C8AA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112000" cy="962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Categorical / Float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975" y="3533775"/>
            <a:ext cx="5353050" cy="5162550"/>
            <a:chOff x="0" y="0"/>
            <a:chExt cx="7137400" cy="688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711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7400" cy="6883400"/>
            </a:xfrm>
            <a:custGeom>
              <a:avLst/>
              <a:gdLst/>
              <a:ahLst/>
              <a:cxnLst/>
              <a:rect r="r" b="b" t="t" l="l"/>
              <a:pathLst>
                <a:path h="6883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6870700"/>
                  </a:lnTo>
                  <a:cubicBezTo>
                    <a:pt x="7137400" y="6877685"/>
                    <a:pt x="7131685" y="6883400"/>
                    <a:pt x="7124700" y="6883400"/>
                  </a:cubicBezTo>
                  <a:lnTo>
                    <a:pt x="12700" y="6883400"/>
                  </a:lnTo>
                  <a:cubicBezTo>
                    <a:pt x="5715" y="6883400"/>
                    <a:pt x="0" y="6877685"/>
                    <a:pt x="0" y="6870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870700"/>
                  </a:lnTo>
                  <a:lnTo>
                    <a:pt x="12700" y="6870700"/>
                  </a:lnTo>
                  <a:lnTo>
                    <a:pt x="12700" y="6858000"/>
                  </a:lnTo>
                  <a:lnTo>
                    <a:pt x="7124700" y="6858000"/>
                  </a:lnTo>
                  <a:lnTo>
                    <a:pt x="7124700" y="6870700"/>
                  </a:lnTo>
                  <a:lnTo>
                    <a:pt x="7112000" y="6870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43940" y="2207895"/>
            <a:ext cx="1620012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Cast explícito por columna — evita la inferencia inconsistente entre Polars y Pandas, y deja el CSV listo para Tableau.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0640" y="3769995"/>
            <a:ext cx="4693920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product_id (join con catálogo)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household_id (10 valores)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quantity (1–3 unidades)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dias_para_vencer (derivada)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5140" y="3769995"/>
            <a:ext cx="4693920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timestamp → Datetime (μs)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expiry_date → Date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Habilita agregaciones temporales nativas en Tableau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9640" y="3769995"/>
            <a:ext cx="4693920" cy="47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action_type (IN, OUT)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classification (4 valores)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nutriscore (A–E + null, ordenable)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category_name (6) · location (3)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•  calories / proteins / carbs_100g → Float64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3940" y="8875395"/>
            <a:ext cx="162001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Validación: bloque P4_tipos_de_dato en transformations_log.json. Tableau detecta los tipos automáticamente al conectar.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Control de duplicados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975" y="2847975"/>
            <a:ext cx="5353050" cy="4400550"/>
            <a:chOff x="0" y="0"/>
            <a:chExt cx="7137400" cy="586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7112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7400" cy="5867400"/>
            </a:xfrm>
            <a:custGeom>
              <a:avLst/>
              <a:gdLst/>
              <a:ahLst/>
              <a:cxnLst/>
              <a:rect r="r" b="b" t="t" l="l"/>
              <a:pathLst>
                <a:path h="5867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5854700"/>
                  </a:lnTo>
                  <a:cubicBezTo>
                    <a:pt x="7137400" y="5861685"/>
                    <a:pt x="7131685" y="5867400"/>
                    <a:pt x="7124700" y="5867400"/>
                  </a:cubicBezTo>
                  <a:lnTo>
                    <a:pt x="12700" y="5867400"/>
                  </a:lnTo>
                  <a:cubicBezTo>
                    <a:pt x="5715" y="5867400"/>
                    <a:pt x="0" y="5861685"/>
                    <a:pt x="0" y="585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854700"/>
                  </a:lnTo>
                  <a:lnTo>
                    <a:pt x="12700" y="5854700"/>
                  </a:lnTo>
                  <a:lnTo>
                    <a:pt x="12700" y="5842000"/>
                  </a:lnTo>
                  <a:lnTo>
                    <a:pt x="7124700" y="5842000"/>
                  </a:lnTo>
                  <a:lnTo>
                    <a:pt x="7124700" y="5854700"/>
                  </a:lnTo>
                  <a:lnTo>
                    <a:pt x="7112000" y="5854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0" y="2857500"/>
            <a:ext cx="5334000" cy="114300"/>
            <a:chOff x="0" y="0"/>
            <a:chExt cx="7112000" cy="152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2000" cy="152400"/>
            </a:xfrm>
            <a:custGeom>
              <a:avLst/>
              <a:gdLst/>
              <a:ahLst/>
              <a:cxnLst/>
              <a:rect r="r" b="b" t="t" l="l"/>
              <a:pathLst>
                <a:path h="152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3F6B4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67475" y="2847975"/>
            <a:ext cx="5353050" cy="4400550"/>
            <a:chOff x="0" y="0"/>
            <a:chExt cx="7137400" cy="586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7112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7400" cy="5867400"/>
            </a:xfrm>
            <a:custGeom>
              <a:avLst/>
              <a:gdLst/>
              <a:ahLst/>
              <a:cxnLst/>
              <a:rect r="r" b="b" t="t" l="l"/>
              <a:pathLst>
                <a:path h="5867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5854700"/>
                  </a:lnTo>
                  <a:cubicBezTo>
                    <a:pt x="7137400" y="5861685"/>
                    <a:pt x="7131685" y="5867400"/>
                    <a:pt x="7124700" y="5867400"/>
                  </a:cubicBezTo>
                  <a:lnTo>
                    <a:pt x="12700" y="5867400"/>
                  </a:lnTo>
                  <a:cubicBezTo>
                    <a:pt x="5715" y="5867400"/>
                    <a:pt x="0" y="5861685"/>
                    <a:pt x="0" y="585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854700"/>
                  </a:lnTo>
                  <a:lnTo>
                    <a:pt x="12700" y="5854700"/>
                  </a:lnTo>
                  <a:lnTo>
                    <a:pt x="12700" y="5842000"/>
                  </a:lnTo>
                  <a:lnTo>
                    <a:pt x="7124700" y="5842000"/>
                  </a:lnTo>
                  <a:lnTo>
                    <a:pt x="7124700" y="5854700"/>
                  </a:lnTo>
                  <a:lnTo>
                    <a:pt x="7112000" y="5854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77000" y="2857500"/>
            <a:ext cx="5334000" cy="114300"/>
            <a:chOff x="0" y="0"/>
            <a:chExt cx="7112000" cy="15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152400"/>
            </a:xfrm>
            <a:custGeom>
              <a:avLst/>
              <a:gdLst/>
              <a:ahLst/>
              <a:cxnLst/>
              <a:rect r="r" b="b" t="t" l="l"/>
              <a:pathLst>
                <a:path h="152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56A3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91975" y="2847975"/>
            <a:ext cx="5353050" cy="4400550"/>
            <a:chOff x="0" y="0"/>
            <a:chExt cx="7137400" cy="5867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7112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7400" cy="5867400"/>
            </a:xfrm>
            <a:custGeom>
              <a:avLst/>
              <a:gdLst/>
              <a:ahLst/>
              <a:cxnLst/>
              <a:rect r="r" b="b" t="t" l="l"/>
              <a:pathLst>
                <a:path h="5867400" w="7137400">
                  <a:moveTo>
                    <a:pt x="12700" y="0"/>
                  </a:moveTo>
                  <a:lnTo>
                    <a:pt x="7124700" y="0"/>
                  </a:lnTo>
                  <a:cubicBezTo>
                    <a:pt x="7131685" y="0"/>
                    <a:pt x="7137400" y="5715"/>
                    <a:pt x="7137400" y="12700"/>
                  </a:cubicBezTo>
                  <a:lnTo>
                    <a:pt x="7137400" y="5854700"/>
                  </a:lnTo>
                  <a:cubicBezTo>
                    <a:pt x="7137400" y="5861685"/>
                    <a:pt x="7131685" y="5867400"/>
                    <a:pt x="7124700" y="5867400"/>
                  </a:cubicBezTo>
                  <a:lnTo>
                    <a:pt x="12700" y="5867400"/>
                  </a:lnTo>
                  <a:cubicBezTo>
                    <a:pt x="5715" y="5867400"/>
                    <a:pt x="0" y="5861685"/>
                    <a:pt x="0" y="585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854700"/>
                  </a:lnTo>
                  <a:lnTo>
                    <a:pt x="12700" y="5854700"/>
                  </a:lnTo>
                  <a:lnTo>
                    <a:pt x="12700" y="5842000"/>
                  </a:lnTo>
                  <a:lnTo>
                    <a:pt x="7124700" y="5842000"/>
                  </a:lnTo>
                  <a:lnTo>
                    <a:pt x="7124700" y="5854700"/>
                  </a:lnTo>
                  <a:lnTo>
                    <a:pt x="7112000" y="5854700"/>
                  </a:lnTo>
                  <a:lnTo>
                    <a:pt x="7112000" y="12700"/>
                  </a:lnTo>
                  <a:lnTo>
                    <a:pt x="7124700" y="12700"/>
                  </a:lnTo>
                  <a:lnTo>
                    <a:pt x="7124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01500" y="2857500"/>
            <a:ext cx="5334000" cy="114300"/>
            <a:chOff x="0" y="0"/>
            <a:chExt cx="7112000" cy="152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0" cy="152400"/>
            </a:xfrm>
            <a:custGeom>
              <a:avLst/>
              <a:gdLst/>
              <a:ahLst/>
              <a:cxnLst/>
              <a:rect r="r" b="b" t="t" l="l"/>
              <a:pathLst>
                <a:path h="1524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5C8AA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2500" y="7620000"/>
            <a:ext cx="16383000" cy="1524000"/>
            <a:chOff x="0" y="0"/>
            <a:chExt cx="21844000" cy="203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4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EFE9D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43940" y="2207895"/>
            <a:ext cx="1620012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Tres niveles de unicidad, cada uno con su propia clave.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740" y="3198495"/>
            <a:ext cx="4541520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Catálogo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8740" y="3808095"/>
            <a:ext cx="45415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Clave: product_id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8740" y="4312920"/>
            <a:ext cx="4541520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drop_duplicates(subset=product_id, keep='first')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740" y="5522595"/>
            <a:ext cx="454152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0 duplicados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50 productos únicos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73240" y="3198495"/>
            <a:ext cx="4541520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Movimientos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73240" y="3808095"/>
            <a:ext cx="45415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Clave: event_id (UUID)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73240" y="4312920"/>
            <a:ext cx="4541520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drop_duplicates(subset=event_id, keep='first')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73240" y="5522595"/>
            <a:ext cx="454152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0 duplicados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25,819 eventos únicos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97740" y="3198495"/>
            <a:ext cx="4541520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Stock físico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97740" y="3808095"/>
            <a:ext cx="45415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5C8AA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Clave: stock_id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97740" y="4312920"/>
            <a:ext cx="4541520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Cada stock_id puede tener múltiples eventos (IN, OUT)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97740" y="5522595"/>
            <a:ext cx="454152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11,581 stock_ids únicos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F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= 11,581 eventos IN (consistente)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8740" y="7846695"/>
            <a:ext cx="155905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E45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Salvaguarda permanente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8740" y="8265795"/>
            <a:ext cx="1559052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Aunque v2 no contiene duplicados, el paso queda activo: src/anomaly_injection.py puede inyectarlos para validar la robustez del pipeline. Integridad referencial: 100% (0 huérfanos).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Bitácora de transformaciones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52500" y="2895600"/>
          <a:ext cx="16383000" cy="5334000"/>
        </p:xfrm>
        <a:graphic>
          <a:graphicData uri="http://schemas.openxmlformats.org/drawingml/2006/table">
            <a:tbl>
              <a:tblPr/>
              <a:tblGrid>
                <a:gridCol w="5334000"/>
                <a:gridCol w="5524500"/>
                <a:gridCol w="5524500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Dato original (raw)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Dato transformado (interim)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Decisión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category = dept_id numérico (1,3,4,7,16,20)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category_name + location (6 / 3 valores)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Homologación vía CATEGORY_MAP / LOCATION_MAP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nutriscore = 'Falta Dato' en 7 productos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nutriscore = null (3,576 eventos afectados)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Sentinel → null sin imputación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event_type (IN/OUT)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action_type (alias normalizado)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Compatibilidad con vocabulario del dominio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Tipos inferidos por Polars/Pandas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Cast explícito a Int64 / Datetime / Categorical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Estabilidad entre ejecuciones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movements_raw + catalog_raw (separados)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inventory_v1.csv — join left por product_id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Estrella desnormalizada para Tableau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Sin columna dias_para_vencer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Derivada = expiry_date − timestamp (días)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F2A3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Habilita análisis de proximidad al vencimiento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3940" y="2207895"/>
            <a:ext cx="1620012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Cada transformación queda registrada con dato original → dato transformado y decisión.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940" y="8494395"/>
            <a:ext cx="162001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Artefactos: data/interim/transformations_log.json (cuantitativo) · docs/changelog_data.md (narrativo, versionado).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Resumen ejecutivo — pipeline v2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975" y="2847975"/>
            <a:ext cx="5162550" cy="2495550"/>
            <a:chOff x="0" y="0"/>
            <a:chExt cx="6883400" cy="332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0" y="2857500"/>
            <a:ext cx="114300" cy="2476500"/>
            <a:chOff x="0" y="0"/>
            <a:chExt cx="1524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3F6B4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62725" y="2847975"/>
            <a:ext cx="5162550" cy="2495550"/>
            <a:chOff x="0" y="0"/>
            <a:chExt cx="6883400" cy="3327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572250" y="2857500"/>
            <a:ext cx="114300" cy="2476500"/>
            <a:chOff x="0" y="0"/>
            <a:chExt cx="1524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C56A3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182475" y="2847975"/>
            <a:ext cx="5162550" cy="2495550"/>
            <a:chOff x="0" y="0"/>
            <a:chExt cx="6883400" cy="3327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92000" y="2857500"/>
            <a:ext cx="114300" cy="2476500"/>
            <a:chOff x="0" y="0"/>
            <a:chExt cx="152400" cy="330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5C8AA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2975" y="5629275"/>
            <a:ext cx="5162550" cy="2495550"/>
            <a:chOff x="0" y="0"/>
            <a:chExt cx="6883400" cy="3327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2500" y="5638800"/>
            <a:ext cx="114300" cy="2476500"/>
            <a:chOff x="0" y="0"/>
            <a:chExt cx="152400" cy="330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7A9E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62725" y="5629275"/>
            <a:ext cx="5162550" cy="2495550"/>
            <a:chOff x="0" y="0"/>
            <a:chExt cx="6883400" cy="3327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72250" y="5638800"/>
            <a:ext cx="114300" cy="2476500"/>
            <a:chOff x="0" y="0"/>
            <a:chExt cx="152400" cy="330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82475" y="5629275"/>
            <a:ext cx="5162550" cy="2495550"/>
            <a:chOff x="0" y="0"/>
            <a:chExt cx="6883400" cy="3327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83400" cy="3327400"/>
            </a:xfrm>
            <a:custGeom>
              <a:avLst/>
              <a:gdLst/>
              <a:ahLst/>
              <a:cxnLst/>
              <a:rect r="r" b="b" t="t" l="l"/>
              <a:pathLst>
                <a:path h="3327400" w="6883400">
                  <a:moveTo>
                    <a:pt x="12700" y="0"/>
                  </a:moveTo>
                  <a:lnTo>
                    <a:pt x="6870700" y="0"/>
                  </a:lnTo>
                  <a:cubicBezTo>
                    <a:pt x="6877685" y="0"/>
                    <a:pt x="6883400" y="5715"/>
                    <a:pt x="6883400" y="12700"/>
                  </a:cubicBezTo>
                  <a:lnTo>
                    <a:pt x="6883400" y="3314700"/>
                  </a:lnTo>
                  <a:cubicBezTo>
                    <a:pt x="6883400" y="3321685"/>
                    <a:pt x="6877685" y="3327400"/>
                    <a:pt x="6870700" y="3327400"/>
                  </a:cubicBezTo>
                  <a:lnTo>
                    <a:pt x="12700" y="3327400"/>
                  </a:lnTo>
                  <a:cubicBezTo>
                    <a:pt x="5715" y="3327400"/>
                    <a:pt x="0" y="3321685"/>
                    <a:pt x="0" y="3314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314700"/>
                  </a:lnTo>
                  <a:lnTo>
                    <a:pt x="12700" y="3314700"/>
                  </a:lnTo>
                  <a:lnTo>
                    <a:pt x="12700" y="3302000"/>
                  </a:lnTo>
                  <a:lnTo>
                    <a:pt x="6870700" y="3302000"/>
                  </a:lnTo>
                  <a:lnTo>
                    <a:pt x="6870700" y="3314700"/>
                  </a:lnTo>
                  <a:lnTo>
                    <a:pt x="6858000" y="3314700"/>
                  </a:lnTo>
                  <a:lnTo>
                    <a:pt x="6858000" y="12700"/>
                  </a:lnTo>
                  <a:lnTo>
                    <a:pt x="6870700" y="12700"/>
                  </a:lnTo>
                  <a:lnTo>
                    <a:pt x="6870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DFD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92000" y="5638800"/>
            <a:ext cx="114300" cy="2476500"/>
            <a:chOff x="0" y="0"/>
            <a:chExt cx="152400" cy="3302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8C5A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36" id="3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43940" y="2207895"/>
            <a:ext cx="1620012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5A5A5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Última ejecución: 2026-05-02 18:41:36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6840" y="31699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25,819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6840" y="41890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Filas en inventory_v1.csv (× 17 columnas)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006590" y="31699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C56A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06590" y="41890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Productos en catálogo (sin filas removidas)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26340" y="31699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5C8AA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6340" y="41890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Integridad referencial (0 huérfanos)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86840" y="59512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7A9E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6840" y="69703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Hogares cubiertos (household_id 0–9)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006590" y="59512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D9A44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3,576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06590" y="69703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Eventos con nutriscore = null (preservado)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26340" y="5951220"/>
            <a:ext cx="4465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8C5A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5,053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6340" y="6970395"/>
            <a:ext cx="446532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F2A30"/>
                </a:solidFill>
                <a:latin typeface="Calibri (MS)"/>
                <a:ea typeface="Calibri (MS)"/>
                <a:cs typeface="Calibri (MS)"/>
                <a:sym typeface="Calibri (MS)"/>
              </a:rPr>
              <a:t>Eventos vencidos al snapshot (días &lt; 0)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3940" y="8418195"/>
            <a:ext cx="1620012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F6B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Cobertura temporal: 2026-02-01 a 2026-05-01 · 90 días continuos.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952500" y="9300000"/>
            <a:ext cx="16383000" cy="4000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1050000"/>
            <a:ext cx="15773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Calibri"/>
              </a:rPr>
              <a:t>Evaluación de tres enfoques para la capa analítica SKI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0000" y="1550000"/>
          <a:ext cx="16200000" cy="6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4350000"/>
                <a:gridCol w="4350000"/>
                <a:gridCol w="4300000"/>
              </a:tblGrid>
              <a:tr h="900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>
                    <a:solidFill>
                      <a:srgbClr val="2E45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[✓] Estrella</a:t>
                      </a:r>
                    </a:p>
                  </a:txBody>
                  <a:tcPr>
                    <a:solidFill>
                      <a:srgbClr val="2E45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Copo de nieve</a:t>
                      </a:r>
                    </a:p>
                  </a:txBody>
                  <a:tcPr>
                    <a:solidFill>
                      <a:srgbClr val="2E45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Tabla plana (flat)</a:t>
                      </a:r>
                    </a:p>
                  </a:txBody>
                  <a:tcPr>
                    <a:solidFill>
                      <a:srgbClr val="2E4536"/>
                    </a:solidFill>
                  </a:tcPr>
                </a:tc>
              </a:tr>
              <a:tr h="11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0"/>
                          </a:solidFill>
                          <a:latin typeface="Calibri"/>
                        </a:rPr>
                        <a:t>Joins para Tableau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Calibri"/>
                        </a:rPr>
                        <a:t>1 join por dimensión
→ simple y directo</a:t>
                      </a:r>
                    </a:p>
                  </a:txBody>
                  <a:tcPr>
                    <a:solidFill>
                      <a:srgbClr val="E8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Múltiples joins en cadena
→ complejidad 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Sin joins
→ todo en una sola tabla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0"/>
                          </a:solidFill>
                          <a:latin typeface="Calibri"/>
                        </a:rPr>
                        <a:t>Rendimiento en Tableau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Calibri"/>
                        </a:rPr>
                        <a:t>Óptimo: queries directos
con extract (.hyper)</a:t>
                      </a:r>
                    </a:p>
                  </a:txBody>
                  <a:tcPr>
                    <a:solidFill>
                      <a:srgbClr val="E8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Degradado: más joins
por nivel de normalización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Aceptable para datasets
pequeños; no escalable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0"/>
                          </a:solidFill>
                          <a:latin typeface="Calibri"/>
                        </a:rPr>
                        <a:t>Mantenibilidad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Calibri"/>
                        </a:rPr>
                        <a:t>Alta: dimensiones
aisladas y reutilizables</a:t>
                      </a:r>
                    </a:p>
                  </a:txBody>
                  <a:tcPr>
                    <a:solidFill>
                      <a:srgbClr val="E8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Media: cambios en
niveles intermedios
cascadean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Baja: redundancia alta;
cambios requieren
updates masivos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0"/>
                          </a:solidFill>
                          <a:latin typeface="Calibri"/>
                        </a:rPr>
                        <a:t>Adecuación al caso SKI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Calibri"/>
                        </a:rPr>
                        <a:t>✓ Ideal: fact_inventory
+ 3 dimensiones claras</a:t>
                      </a:r>
                    </a:p>
                  </a:txBody>
                  <a:tcPr>
                    <a:solidFill>
                      <a:srgbClr val="E8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✗ Innecesario: category
nombre ya es atómico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✗ Redundaría product_name
25,819 veces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E4536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EFE9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✓  ELEGIDO</a:t>
                      </a:r>
                    </a:p>
                  </a:txBody>
                  <a:tcPr>
                    <a:solidFill>
                      <a:srgbClr val="3F6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✗  Descartado</a:t>
                      </a:r>
                    </a:p>
                  </a:txBody>
                  <a:tcPr>
                    <a:solidFill>
                      <a:srgbClr val="EFE9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5A5A"/>
                          </a:solidFill>
                          <a:latin typeface="Calibri"/>
                        </a:rPr>
                        <a:t>✗  Descartado</a:t>
                      </a:r>
                    </a:p>
                  </a:txBody>
                  <a:tcPr>
                    <a:solidFill>
                      <a:srgbClr val="EFE9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57300" y="480000"/>
            <a:ext cx="15773400" cy="500000"/>
          </a:xfrm>
          <a:prstGeom prst="rect">
            <a:avLst/>
          </a:prstGeom>
          <a:solidFill>
            <a:srgbClr val="2E4536"/>
          </a:solidFill>
          <a:ln>
            <a:noFill/>
          </a:ln>
        </p:spPr>
        <p:txBody>
          <a:bodyPr wrap="none" anchor="ctr" tIns="91440" lIns="18288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6. Elección del 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952500" y="9300000"/>
            <a:ext cx="16383000" cy="4000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1050000"/>
            <a:ext cx="15773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Calibri"/>
              </a:rPr>
              <a:t>fact_inventory como tabla de hechos central; tres dimensiones con clave foránea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000" y="3800000"/>
            <a:ext cx="5200000" cy="4700000"/>
          </a:xfrm>
          <a:prstGeom prst="rect">
            <a:avLst/>
          </a:prstGeom>
          <a:solidFill>
            <a:srgbClr val="2E4536"/>
          </a:solidFill>
          <a:ln>
            <a:solidFill>
              <a:srgbClr val="2E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000" y="3800000"/>
            <a:ext cx="5200000" cy="550000"/>
          </a:xfrm>
          <a:prstGeom prst="rect">
            <a:avLst/>
          </a:prstGeom>
          <a:solidFill>
            <a:srgbClr val="1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0000" y="38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fact_inventory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0000" y="440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PK  event_id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0000" y="494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FK  product_id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0000" y="548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FK  household_id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0000" y="602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FK  fecha (→ dim_tiempo)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0000" y="656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    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0000" y="710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     dias_para_vencer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0000" y="7640000"/>
            <a:ext cx="49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D5"/>
                </a:solidFill>
                <a:latin typeface="Calibri"/>
              </a:rPr>
              <a:t>     action_type /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000" y="3800000"/>
            <a:ext cx="5200000" cy="4700000"/>
          </a:xfrm>
          <a:prstGeom prst="rect">
            <a:avLst/>
          </a:prstGeom>
          <a:solidFill>
            <a:srgbClr val="E8F3EC"/>
          </a:solidFill>
          <a:ln w="19050">
            <a:solidFill>
              <a:srgbClr val="3F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0000" y="3800000"/>
            <a:ext cx="5200000" cy="550000"/>
          </a:xfrm>
          <a:prstGeom prst="rect">
            <a:avLst/>
          </a:prstGeom>
          <a:solidFill>
            <a:srgbClr val="3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38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dim_producto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000" y="440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4536"/>
                </a:solidFill>
                <a:latin typeface="Calibri"/>
              </a:rPr>
              <a:t>PK  product_id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000" y="504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product_name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000" y="568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category_name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" y="632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" y="696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nutriscore (A–E)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00" y="760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calories_100g / proteins / carbs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00000" y="1600000"/>
            <a:ext cx="5200000" cy="2800000"/>
          </a:xfrm>
          <a:prstGeom prst="rect">
            <a:avLst/>
          </a:prstGeom>
          <a:solidFill>
            <a:srgbClr val="E8F0F5"/>
          </a:solidFill>
          <a:ln w="19050">
            <a:solidFill>
              <a:srgbClr val="5C8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00000" y="1600000"/>
            <a:ext cx="5200000" cy="550000"/>
          </a:xfrm>
          <a:prstGeom prst="rect">
            <a:avLst/>
          </a:prstGeom>
          <a:solidFill>
            <a:srgbClr val="5C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00000" y="16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dim_hogar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50000" y="220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8AA3"/>
                </a:solidFill>
                <a:latin typeface="Calibri"/>
              </a:rPr>
              <a:t>PK  household_id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50000" y="284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10 hogares (0–9)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50000" y="348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cobertura: 90 días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00000" y="5700000"/>
            <a:ext cx="5200000" cy="3200000"/>
          </a:xfrm>
          <a:prstGeom prst="rect">
            <a:avLst/>
          </a:prstGeom>
          <a:solidFill>
            <a:srgbClr val="FDF0E8"/>
          </a:solidFill>
          <a:ln w="19050">
            <a:solidFill>
              <a:srgbClr val="C56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200000" y="5700000"/>
            <a:ext cx="5200000" cy="550000"/>
          </a:xfrm>
          <a:prstGeom prst="rect">
            <a:avLst/>
          </a:prstGeom>
          <a:solidFill>
            <a:srgbClr val="C5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00000" y="57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dim_tiempo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50000" y="630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6A3F"/>
                </a:solidFill>
                <a:latin typeface="Calibri"/>
              </a:rPr>
              <a:t>PK  fecha (de timestamp)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50000" y="694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día / semana / 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50000" y="758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día_semana (lun–dom)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50000" y="8220000"/>
            <a:ext cx="4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trimestre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00000" y="6000000"/>
            <a:ext cx="800000" cy="60000"/>
          </a:xfrm>
          <a:prstGeom prst="rect">
            <a:avLst/>
          </a:prstGeom>
          <a:solidFill>
            <a:srgbClr val="3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600000" y="3800000"/>
            <a:ext cx="600000" cy="60000"/>
          </a:xfrm>
          <a:prstGeom prst="rect">
            <a:avLst/>
          </a:prstGeom>
          <a:solidFill>
            <a:srgbClr val="5C8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600000" y="7000000"/>
            <a:ext cx="600000" cy="60000"/>
          </a:xfrm>
          <a:prstGeom prst="rect">
            <a:avLst/>
          </a:prstGeom>
          <a:solidFill>
            <a:srgbClr val="C5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57300" y="480000"/>
            <a:ext cx="15773400" cy="500000"/>
          </a:xfrm>
          <a:prstGeom prst="rect">
            <a:avLst/>
          </a:prstGeom>
          <a:solidFill>
            <a:srgbClr val="2E4536"/>
          </a:solidFill>
          <a:ln>
            <a:noFill/>
          </a:ln>
        </p:spPr>
        <p:txBody>
          <a:bodyPr wrap="none" anchor="ctr" tIns="91440" lIns="18288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7. Esquema estrella — SKI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952500" y="9300000"/>
            <a:ext cx="16383000" cy="4000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1050000"/>
            <a:ext cx="157734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A5A5A"/>
                </a:solidFill>
                <a:latin typeface="Calibri"/>
              </a:rPr>
              <a:t>Por qué estrella es la elección correcta para el caso SKI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600000"/>
            <a:ext cx="7800000" cy="78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000" y="1600000"/>
            <a:ext cx="7800000" cy="100000"/>
          </a:xfrm>
          <a:prstGeom prst="rect">
            <a:avLst/>
          </a:prstGeom>
          <a:solidFill>
            <a:srgbClr val="3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4536"/>
                </a:solidFill>
                <a:latin typeface="Calibri"/>
              </a:rPr>
              <a:t>Por qué elegimos Modelo Estrella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400000"/>
            <a:ext cx="7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4536"/>
                </a:solidFill>
                <a:latin typeface="Calibri"/>
              </a:rPr>
              <a:t>1. Dimensiones atómicas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850000"/>
            <a:ext cx="7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category_name y location ya son atributos simples: no se gana nada con subcategorías → snowflake innecesario.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050000"/>
            <a:ext cx="7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4536"/>
                </a:solidFill>
                <a:latin typeface="Calibri"/>
              </a:rPr>
              <a:t>2. Rendimiento Tableau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500000"/>
            <a:ext cx="7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Tableau optimiza su motor de cálculo (VizQL) con esquemas estrella. Joins directos a dimensiones reducen el tiempo de extracción (.hyper).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5700000"/>
            <a:ext cx="7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4536"/>
                </a:solidFill>
                <a:latin typeface="Calibri"/>
              </a:rPr>
              <a:t>3. Mantenibilidad del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6150000"/>
            <a:ext cx="7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Con 3 dimensiones y 1 fact table, agregar un nuevo hogar o producto implica solo insertar en la dimensión correspondiente, sin tocar la fact.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7350000"/>
            <a:ext cx="7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4536"/>
                </a:solidFill>
                <a:latin typeface="Calibri"/>
              </a:rPr>
              <a:t>4. Integridad ya validada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7800000"/>
            <a:ext cx="7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100% de integridad referencial confirmada en E3: 0 huérfanos, todas las FK tienen match. El esquema estrella ya está implícito en los datos.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0" y="1600000"/>
            <a:ext cx="8500000" cy="78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0000" y="1600000"/>
            <a:ext cx="8500000" cy="100000"/>
          </a:xfrm>
          <a:prstGeom prst="rect">
            <a:avLst/>
          </a:prstGeom>
          <a:solidFill>
            <a:srgbClr val="C5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000" y="1800000"/>
            <a:ext cx="8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56A3F"/>
                </a:solidFill>
                <a:latin typeface="Calibri"/>
              </a:rPr>
              <a:t>Cómo se conecta en Tableau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000" y="2400000"/>
            <a:ext cx="8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56A3F"/>
                </a:solidFill>
                <a:latin typeface="Calibri"/>
              </a:rPr>
              <a:t>Data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000" y="2850000"/>
            <a:ext cx="8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Se cargan inventory_v1.csv (fact) + catálogo (dim_producto). Tableau detecta tipos automáticamente gracias al cast explícito del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000" y="4050000"/>
            <a:ext cx="8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56A3F"/>
                </a:solidFill>
                <a:latin typeface="Calibri"/>
              </a:rPr>
              <a:t>Relaciones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000" y="4500000"/>
            <a:ext cx="8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fact_inventory.product_id → dim_producto.product_id (many-to-one). fact_inventory.household_id → dim_hogar.household_id. timestamp → dim_tiempo.fecha.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0000" y="5700000"/>
            <a:ext cx="8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56A3F"/>
                </a:solidFill>
                <a:latin typeface="Calibri"/>
              </a:rPr>
              <a:t>dim_tiempo (derivada)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0000" y="6150000"/>
            <a:ext cx="8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Se genera con un calculated field en Tableau o con DATETRUNC(). No requiere tabla adicional pre-procesada.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0000" y="7350000"/>
            <a:ext cx="8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56A3F"/>
                </a:solidFill>
                <a:latin typeface="Calibri"/>
              </a:rPr>
              <a:t>Ventaja directa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0000" y="7800000"/>
            <a:ext cx="8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Con el esquema estrella activo, cada hoja analítica puede hacer drag-and-drop de cualquier medida o dimensión sin joins manuales adicionales.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300" y="480000"/>
            <a:ext cx="15773400" cy="500000"/>
          </a:xfrm>
          <a:prstGeom prst="rect">
            <a:avLst/>
          </a:prstGeom>
          <a:solidFill>
            <a:srgbClr val="2E4536"/>
          </a:solidFill>
          <a:ln>
            <a:noFill/>
          </a:ln>
        </p:spPr>
        <p:txBody>
          <a:bodyPr wrap="none" anchor="ctr" tIns="91440" lIns="18288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8. Justificación técnica y conexión con Tableau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705474"/>
            </a:xfrm>
            <a:custGeom>
              <a:avLst/>
              <a:gdLst/>
              <a:ahLst/>
              <a:cxnLst/>
              <a:rect r="r" b="b" t="t" l="l"/>
              <a:pathLst>
                <a:path h="570547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031200" cy="57245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2100" b="true">
                  <a:solidFill>
                    <a:srgbClr val="C56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CIERRE Y SIGUIENTES PASOS</a:t>
              </a:r>
            </a:p>
            <a:p>
              <a:pPr algn="l">
                <a:lnSpc>
                  <a:spcPts val="6480"/>
                </a:lnSpc>
              </a:pPr>
              <a:r>
                <a:rPr lang="en-US" sz="6000" b="true">
                  <a:solidFill>
                    <a:srgbClr val="2E45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inventory_v1.csv listo para Tableau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6446520"/>
            <a:ext cx="3291840" cy="329184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39215" y="6901339"/>
            <a:ext cx="15590520" cy="218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797B7D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reproducible: </a:t>
            </a:r>
            <a:r>
              <a:rPr lang="en-US" sz="2250" i="true">
                <a:solidFill>
                  <a:srgbClr val="797B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notebooks/02_limpieza.ipynb</a:t>
            </a:r>
            <a:r>
              <a:rPr lang="en-US" sz="2250">
                <a:solidFill>
                  <a:srgbClr val="797B7D"/>
                </a:solidFill>
                <a:latin typeface="Calibri (MS)"/>
                <a:ea typeface="Calibri (MS)"/>
                <a:cs typeface="Calibri (MS)"/>
                <a:sym typeface="Calibri (MS)"/>
              </a:rPr>
              <a:t> + </a:t>
            </a:r>
            <a:r>
              <a:rPr lang="en-US" sz="2250" i="true">
                <a:solidFill>
                  <a:srgbClr val="797B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src/preprocessing.py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797B7D"/>
                </a:solidFill>
                <a:latin typeface="Calibri (MS)"/>
                <a:ea typeface="Calibri (MS)"/>
                <a:cs typeface="Calibri (MS)"/>
                <a:sym typeface="Calibri (MS)"/>
              </a:rPr>
              <a:t>Trazabilidad: </a:t>
            </a:r>
            <a:r>
              <a:rPr lang="en-US" sz="2250" i="true">
                <a:solidFill>
                  <a:srgbClr val="797B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transformations_log.json</a:t>
            </a:r>
            <a:r>
              <a:rPr lang="en-US" sz="2250">
                <a:solidFill>
                  <a:srgbClr val="797B7D"/>
                </a:solidFill>
                <a:latin typeface="Calibri (MS)"/>
                <a:ea typeface="Calibri (MS)"/>
                <a:cs typeface="Calibri (MS)"/>
                <a:sym typeface="Calibri (MS)"/>
              </a:rPr>
              <a:t> · </a:t>
            </a:r>
            <a:r>
              <a:rPr lang="en-US" sz="2250" i="true">
                <a:solidFill>
                  <a:srgbClr val="797B7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docs/changelog_data.md</a:t>
            </a:r>
          </a:p>
          <a:p>
            <a:pPr algn="l" marL="407194" indent="-203597" lvl="1">
              <a:lnSpc>
                <a:spcPts val="2430"/>
              </a:lnSpc>
              <a:buFont typeface="Arial"/>
              <a:buChar char="•"/>
            </a:pPr>
            <a:r>
              <a:rPr lang="en-US" sz="2250">
                <a:solidFill>
                  <a:srgbClr val="797B7D"/>
                </a:solidFill>
                <a:latin typeface="Calibri (MS)"/>
                <a:ea typeface="Calibri (MS)"/>
                <a:cs typeface="Calibri (MS)"/>
                <a:sym typeface="Calibri (MS)"/>
              </a:rPr>
              <a:t>Próxima entrega: análisis exploratorio y reducción de dimensionalidad (PCA / t-SNE).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DAHJ3HGvl3Q</dc:identifier>
  <dcterms:modified xsi:type="dcterms:W3CDTF">2011-08-01T06:04:30Z</dcterms:modified>
  <cp:revision>1</cp:revision>
  <dc:title>ENTREGA 3.pptx</dc:title>
</cp:coreProperties>
</file>